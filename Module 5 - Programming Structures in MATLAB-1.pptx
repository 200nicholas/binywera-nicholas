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301" r:id="rId3"/>
    <p:sldId id="303" r:id="rId4"/>
    <p:sldId id="306" r:id="rId5"/>
    <p:sldId id="302" r:id="rId6"/>
    <p:sldId id="307" r:id="rId7"/>
    <p:sldId id="268" r:id="rId8"/>
    <p:sldId id="271" r:id="rId9"/>
    <p:sldId id="300" r:id="rId10"/>
    <p:sldId id="304" r:id="rId11"/>
    <p:sldId id="305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9" r:id="rId20"/>
    <p:sldId id="317" r:id="rId21"/>
    <p:sldId id="320" r:id="rId22"/>
    <p:sldId id="322" r:id="rId23"/>
    <p:sldId id="323" r:id="rId24"/>
    <p:sldId id="324" r:id="rId25"/>
    <p:sldId id="327" r:id="rId26"/>
    <p:sldId id="326" r:id="rId27"/>
    <p:sldId id="325" r:id="rId28"/>
    <p:sldId id="328" r:id="rId29"/>
    <p:sldId id="330" r:id="rId30"/>
    <p:sldId id="332" r:id="rId31"/>
    <p:sldId id="333" r:id="rId32"/>
    <p:sldId id="334" r:id="rId33"/>
    <p:sldId id="335" r:id="rId34"/>
    <p:sldId id="336" r:id="rId35"/>
    <p:sldId id="331" r:id="rId36"/>
    <p:sldId id="337" r:id="rId37"/>
    <p:sldId id="338" r:id="rId38"/>
    <p:sldId id="33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8" y="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A497-E567-488C-8F15-B960C6042BA5}" type="datetimeFigureOut">
              <a:rPr lang="en-GB" smtClean="0"/>
              <a:t>29/09/2024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0B0A-0E25-4EDA-8F4A-964DE66C92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5276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A497-E567-488C-8F15-B960C6042BA5}" type="datetimeFigureOut">
              <a:rPr lang="en-GB" smtClean="0"/>
              <a:t>29/09/2024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0B0A-0E25-4EDA-8F4A-964DE66C92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200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A497-E567-488C-8F15-B960C6042BA5}" type="datetimeFigureOut">
              <a:rPr lang="en-GB" smtClean="0"/>
              <a:t>29/09/2024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0B0A-0E25-4EDA-8F4A-964DE66C92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4973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A497-E567-488C-8F15-B960C6042BA5}" type="datetimeFigureOut">
              <a:rPr lang="en-GB" smtClean="0"/>
              <a:t>29/09/2024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0B0A-0E25-4EDA-8F4A-964DE66C92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6112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A497-E567-488C-8F15-B960C6042BA5}" type="datetimeFigureOut">
              <a:rPr lang="en-GB" smtClean="0"/>
              <a:t>29/09/2024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0B0A-0E25-4EDA-8F4A-964DE66C92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5750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A497-E567-488C-8F15-B960C6042BA5}" type="datetimeFigureOut">
              <a:rPr lang="en-GB" smtClean="0"/>
              <a:t>29/09/2024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0B0A-0E25-4EDA-8F4A-964DE66C92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9249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A497-E567-488C-8F15-B960C6042BA5}" type="datetimeFigureOut">
              <a:rPr lang="en-GB" smtClean="0"/>
              <a:t>29/09/2024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0B0A-0E25-4EDA-8F4A-964DE66C92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980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A497-E567-488C-8F15-B960C6042BA5}" type="datetimeFigureOut">
              <a:rPr lang="en-GB" smtClean="0"/>
              <a:t>29/09/2024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0B0A-0E25-4EDA-8F4A-964DE66C92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5490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A497-E567-488C-8F15-B960C6042BA5}" type="datetimeFigureOut">
              <a:rPr lang="en-GB" smtClean="0"/>
              <a:t>29/09/2024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0B0A-0E25-4EDA-8F4A-964DE66C92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663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A497-E567-488C-8F15-B960C6042BA5}" type="datetimeFigureOut">
              <a:rPr lang="en-GB" smtClean="0"/>
              <a:t>29/09/2024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0B0A-0E25-4EDA-8F4A-964DE66C92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5974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A497-E567-488C-8F15-B960C6042BA5}" type="datetimeFigureOut">
              <a:rPr lang="en-GB" smtClean="0"/>
              <a:t>29/09/2024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00B0A-0E25-4EDA-8F4A-964DE66C92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16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AA497-E567-488C-8F15-B960C6042BA5}" type="datetimeFigureOut">
              <a:rPr lang="en-GB" smtClean="0"/>
              <a:t>29/09/2024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00B0A-0E25-4EDA-8F4A-964DE66C92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5889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>
                <a:latin typeface="+mn-lt"/>
              </a:rPr>
              <a:t>Programming </a:t>
            </a:r>
            <a:r>
              <a:rPr lang="en-GB" dirty="0" smtClean="0">
                <a:latin typeface="+mn-lt"/>
              </a:rPr>
              <a:t>Structures </a:t>
            </a:r>
            <a:r>
              <a:rPr lang="en-GB" dirty="0" smtClean="0">
                <a:latin typeface="+mn-lt"/>
              </a:rPr>
              <a:t>in MATLAB</a:t>
            </a:r>
            <a:endParaRPr lang="en-GB" dirty="0">
              <a:latin typeface="+mn-lt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MODULE FIVE</a:t>
            </a:r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28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9787" y="-83971"/>
            <a:ext cx="10515600" cy="1001609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+mn-lt"/>
              </a:rPr>
              <a:t>Control Structures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0" y="632035"/>
            <a:ext cx="5157787" cy="500563"/>
          </a:xfrm>
        </p:spPr>
        <p:txBody>
          <a:bodyPr/>
          <a:lstStyle/>
          <a:p>
            <a:pPr algn="ctr"/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60421" y="1133627"/>
            <a:ext cx="5719512" cy="5724373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sz="1900" dirty="0"/>
              <a:t>Control structures are </a:t>
            </a:r>
            <a:r>
              <a:rPr lang="en-GB" sz="1900" dirty="0" smtClean="0"/>
              <a:t>essential in </a:t>
            </a:r>
            <a:r>
              <a:rPr lang="en-GB" sz="1900" dirty="0"/>
              <a:t>directing the flow of execution in a program. </a:t>
            </a:r>
            <a:endParaRPr lang="en-GB" sz="1900" dirty="0" smtClean="0"/>
          </a:p>
          <a:p>
            <a:pPr>
              <a:lnSpc>
                <a:spcPct val="160000"/>
              </a:lnSpc>
            </a:pPr>
            <a:r>
              <a:rPr lang="en-GB" sz="1900" dirty="0" smtClean="0"/>
              <a:t>Are </a:t>
            </a:r>
            <a:r>
              <a:rPr lang="en-GB" sz="1900" dirty="0"/>
              <a:t>fundamental building blocks of any programming </a:t>
            </a:r>
            <a:r>
              <a:rPr lang="en-GB" sz="1900" dirty="0" smtClean="0"/>
              <a:t>language</a:t>
            </a:r>
          </a:p>
          <a:p>
            <a:pPr>
              <a:lnSpc>
                <a:spcPct val="160000"/>
              </a:lnSpc>
            </a:pPr>
            <a:r>
              <a:rPr lang="en-US" sz="1900" dirty="0" smtClean="0"/>
              <a:t>Facilitate logic implementation and task repetition as needed</a:t>
            </a:r>
            <a:endParaRPr lang="en-GB" sz="1900" dirty="0" smtClean="0"/>
          </a:p>
          <a:p>
            <a:pPr>
              <a:lnSpc>
                <a:spcPct val="160000"/>
              </a:lnSpc>
            </a:pPr>
            <a:r>
              <a:rPr lang="en-GB" sz="1900" dirty="0" smtClean="0"/>
              <a:t>They </a:t>
            </a:r>
            <a:r>
              <a:rPr lang="en-GB" sz="1900" dirty="0"/>
              <a:t>allow </a:t>
            </a:r>
            <a:r>
              <a:rPr lang="en-GB" sz="1900" dirty="0" smtClean="0"/>
              <a:t>one </a:t>
            </a:r>
            <a:r>
              <a:rPr lang="en-GB" sz="1900" dirty="0"/>
              <a:t>to</a:t>
            </a:r>
            <a:r>
              <a:rPr lang="en-GB" sz="1900" dirty="0" smtClean="0"/>
              <a:t>;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GB" sz="1900" dirty="0"/>
              <a:t>make decisions (conditional </a:t>
            </a:r>
            <a:r>
              <a:rPr lang="en-GB" sz="1900" dirty="0" smtClean="0"/>
              <a:t>execution)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GB" sz="1900" dirty="0" smtClean="0"/>
              <a:t>repeat </a:t>
            </a:r>
            <a:r>
              <a:rPr lang="en-GB" sz="1900" dirty="0"/>
              <a:t>code (</a:t>
            </a:r>
            <a:r>
              <a:rPr lang="en-GB" sz="1900" dirty="0" smtClean="0"/>
              <a:t>loops)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GB" sz="1900" dirty="0" smtClean="0"/>
              <a:t>select </a:t>
            </a:r>
            <a:r>
              <a:rPr lang="en-GB" sz="1900" dirty="0"/>
              <a:t>between different sections of code based on the program state</a:t>
            </a:r>
            <a:r>
              <a:rPr lang="en-GB" sz="1900" dirty="0" smtClean="0"/>
              <a:t>.</a:t>
            </a:r>
            <a:endParaRPr lang="en-GB" sz="1900" b="1" dirty="0" smtClean="0">
              <a:solidFill>
                <a:srgbClr val="FF0000"/>
              </a:solidFill>
            </a:endParaRPr>
          </a:p>
          <a:p>
            <a:pPr>
              <a:lnSpc>
                <a:spcPct val="160000"/>
              </a:lnSpc>
            </a:pPr>
            <a:endParaRPr lang="en-GB" sz="190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"/>
          </p:nvPr>
        </p:nvSpPr>
        <p:spPr>
          <a:xfrm>
            <a:off x="6425328" y="598563"/>
            <a:ext cx="5183188" cy="532648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Types and Applications</a:t>
            </a:r>
            <a:endParaRPr lang="en-GB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5879933" y="1131211"/>
            <a:ext cx="6106657" cy="572678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457200" indent="-457200">
              <a:lnSpc>
                <a:spcPct val="114000"/>
              </a:lnSpc>
              <a:buFont typeface="+mj-lt"/>
              <a:buAutoNum type="arabicPeriod"/>
            </a:pPr>
            <a:r>
              <a:rPr lang="en-GB" sz="1800" b="1" dirty="0"/>
              <a:t>Conditional </a:t>
            </a:r>
            <a:r>
              <a:rPr lang="en-GB" sz="1800" b="1" dirty="0" smtClean="0"/>
              <a:t>Statements </a:t>
            </a:r>
            <a:r>
              <a:rPr lang="en-GB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(if, elseif, else): </a:t>
            </a:r>
            <a:r>
              <a:rPr lang="en-GB" sz="1800" dirty="0" smtClean="0">
                <a:cs typeface="Courier New" panose="02070309020205020404" pitchFamily="49" charset="0"/>
              </a:rPr>
              <a:t>E</a:t>
            </a:r>
            <a:r>
              <a:rPr lang="en-GB" sz="1800" dirty="0" smtClean="0"/>
              <a:t>xecute </a:t>
            </a:r>
            <a:r>
              <a:rPr lang="en-GB" sz="1800" dirty="0"/>
              <a:t>code based on logical conditions.</a:t>
            </a:r>
            <a:endParaRPr lang="en-GB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lnSpc>
                <a:spcPct val="114000"/>
              </a:lnSpc>
              <a:buFont typeface="+mj-lt"/>
              <a:buAutoNum type="arabicPeriod"/>
            </a:pPr>
            <a:r>
              <a:rPr lang="en-GB" sz="1800" b="1" dirty="0"/>
              <a:t>Switch </a:t>
            </a:r>
            <a:r>
              <a:rPr lang="en-GB" sz="1800" b="1" dirty="0" smtClean="0"/>
              <a:t>Statements </a:t>
            </a:r>
            <a:r>
              <a:rPr lang="en-GB" sz="18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(switch, case, otherwise): </a:t>
            </a:r>
            <a:r>
              <a:rPr lang="en-GB" sz="1800" dirty="0"/>
              <a:t>E</a:t>
            </a:r>
            <a:r>
              <a:rPr lang="en-GB" sz="1800" dirty="0" smtClean="0"/>
              <a:t>xecuting </a:t>
            </a:r>
            <a:r>
              <a:rPr lang="en-GB" sz="1800" dirty="0"/>
              <a:t>one block of code among many alternatives based on the value of a variable or expression</a:t>
            </a:r>
            <a:r>
              <a:rPr lang="en-GB" sz="1800" dirty="0" smtClean="0"/>
              <a:t>.</a:t>
            </a:r>
          </a:p>
          <a:p>
            <a:pPr marL="457200" indent="-457200">
              <a:lnSpc>
                <a:spcPct val="114000"/>
              </a:lnSpc>
              <a:buFont typeface="+mj-lt"/>
              <a:buAutoNum type="arabicPeriod"/>
            </a:pPr>
            <a:r>
              <a:rPr lang="en-GB" sz="1800" b="1" dirty="0" smtClean="0"/>
              <a:t>Loops</a:t>
            </a:r>
          </a:p>
          <a:p>
            <a:pPr marL="914400" lvl="1" indent="-457200">
              <a:lnSpc>
                <a:spcPct val="114000"/>
              </a:lnSpc>
              <a:buFont typeface="+mj-lt"/>
              <a:buAutoNum type="romanLcPeriod"/>
            </a:pPr>
            <a:r>
              <a:rPr lang="en-US" sz="18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8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smtClean="0">
                <a:solidFill>
                  <a:srgbClr val="FF0000"/>
                </a:solidFill>
              </a:rPr>
              <a:t>loop: </a:t>
            </a:r>
            <a:r>
              <a:rPr lang="en-GB" sz="1800" dirty="0" smtClean="0"/>
              <a:t>Repeats </a:t>
            </a:r>
            <a:r>
              <a:rPr lang="en-GB" sz="1800" dirty="0"/>
              <a:t>a block of code a specified number of times, iterating over a range of </a:t>
            </a:r>
            <a:r>
              <a:rPr lang="en-GB" sz="1800" dirty="0" smtClean="0"/>
              <a:t>values</a:t>
            </a:r>
          </a:p>
          <a:p>
            <a:pPr marL="914400" lvl="1" indent="-457200">
              <a:lnSpc>
                <a:spcPct val="114000"/>
              </a:lnSpc>
              <a:buFont typeface="+mj-lt"/>
              <a:buAutoNum type="romanLcPeriod"/>
            </a:pPr>
            <a:r>
              <a:rPr lang="en-US" sz="18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800" dirty="0" smtClean="0">
                <a:solidFill>
                  <a:srgbClr val="FF0000"/>
                </a:solidFill>
              </a:rPr>
              <a:t> loop: </a:t>
            </a:r>
            <a:r>
              <a:rPr lang="en-GB" sz="1800" dirty="0"/>
              <a:t>Repeats a block of code as long as a condition remains true.</a:t>
            </a:r>
            <a:endParaRPr lang="en-GB" sz="1800" dirty="0" smtClean="0"/>
          </a:p>
          <a:p>
            <a:pPr marL="457200" indent="-457200">
              <a:lnSpc>
                <a:spcPct val="114000"/>
              </a:lnSpc>
              <a:buFont typeface="+mj-lt"/>
              <a:buAutoNum type="arabicPeriod"/>
            </a:pPr>
            <a:r>
              <a:rPr lang="en-GB" sz="1800" b="1" dirty="0"/>
              <a:t>Control Flow </a:t>
            </a:r>
            <a:r>
              <a:rPr lang="en-GB" sz="1800" b="1" dirty="0" smtClean="0"/>
              <a:t>Modifiers</a:t>
            </a:r>
          </a:p>
          <a:p>
            <a:pPr marL="914400" lvl="1" indent="-457200">
              <a:lnSpc>
                <a:spcPct val="114000"/>
              </a:lnSpc>
              <a:buFont typeface="+mj-lt"/>
              <a:buAutoNum type="romanLcPeriod"/>
            </a:pPr>
            <a:r>
              <a:rPr lang="en-US" sz="18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break: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800" dirty="0"/>
              <a:t>Exits the loop prematurely when a condition is met</a:t>
            </a:r>
            <a:r>
              <a:rPr lang="en-GB" sz="1800" dirty="0" smtClean="0"/>
              <a:t>.</a:t>
            </a:r>
          </a:p>
          <a:p>
            <a:pPr marL="914400" lvl="1" indent="-457200">
              <a:lnSpc>
                <a:spcPct val="114000"/>
              </a:lnSpc>
              <a:buFont typeface="+mj-lt"/>
              <a:buAutoNum type="romanLcPeriod"/>
            </a:pPr>
            <a:r>
              <a:rPr lang="en-US" sz="18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continue: </a:t>
            </a:r>
            <a:r>
              <a:rPr lang="en-GB" sz="1800" dirty="0" smtClean="0"/>
              <a:t>Skips </a:t>
            </a:r>
            <a:r>
              <a:rPr lang="en-GB" sz="1800" dirty="0"/>
              <a:t>the remaining code in the current iteration of a loop and moves to the next iteration.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97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9775" y="44444"/>
            <a:ext cx="10515600" cy="913137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+mn-lt"/>
              </a:rPr>
              <a:t>Decision Statements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" y="725510"/>
            <a:ext cx="12192000" cy="615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8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9775" y="44444"/>
            <a:ext cx="10515600" cy="913137"/>
          </a:xfrm>
        </p:spPr>
        <p:txBody>
          <a:bodyPr>
            <a:normAutofit/>
          </a:bodyPr>
          <a:lstStyle/>
          <a:p>
            <a:pPr algn="ctr"/>
            <a:r>
              <a:rPr lang="en-GB" dirty="0" smtClean="0">
                <a:solidFill>
                  <a:srgbClr val="FF0000"/>
                </a:solidFill>
                <a:latin typeface="+mn-lt"/>
              </a:rPr>
              <a:t>Nested Decision Statements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01336" y="790386"/>
            <a:ext cx="11887200" cy="606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77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9775" y="44444"/>
            <a:ext cx="10515600" cy="913137"/>
          </a:xfrm>
        </p:spPr>
        <p:txBody>
          <a:bodyPr>
            <a:normAutofit/>
          </a:bodyPr>
          <a:lstStyle/>
          <a:p>
            <a:pPr algn="ctr"/>
            <a:r>
              <a:rPr lang="en-GB" dirty="0" smtClean="0">
                <a:solidFill>
                  <a:srgbClr val="FF0000"/>
                </a:solidFill>
                <a:latin typeface="+mn-lt"/>
              </a:rPr>
              <a:t>For Loops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22947" y="846229"/>
            <a:ext cx="10010273" cy="601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9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9775" y="44444"/>
            <a:ext cx="10515600" cy="913137"/>
          </a:xfrm>
        </p:spPr>
        <p:txBody>
          <a:bodyPr>
            <a:normAutofit/>
          </a:bodyPr>
          <a:lstStyle/>
          <a:p>
            <a:pPr algn="ctr"/>
            <a:r>
              <a:rPr lang="en-GB" dirty="0" smtClean="0">
                <a:solidFill>
                  <a:srgbClr val="FF0000"/>
                </a:solidFill>
                <a:latin typeface="+mn-lt"/>
              </a:rPr>
              <a:t>While Loops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74820" y="797159"/>
            <a:ext cx="10413765" cy="606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6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9787" y="25086"/>
            <a:ext cx="10515600" cy="1001609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+mn-lt"/>
              </a:rPr>
              <a:t>Introduction to Programming paradigms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0" y="776413"/>
            <a:ext cx="5157787" cy="500563"/>
          </a:xfrm>
        </p:spPr>
        <p:txBody>
          <a:bodyPr/>
          <a:lstStyle/>
          <a:p>
            <a:pPr algn="ctr"/>
            <a:r>
              <a:rPr lang="en-GB" dirty="0" smtClean="0"/>
              <a:t>Overview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60421" y="1276976"/>
            <a:ext cx="5937166" cy="5581023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sz="1900" dirty="0"/>
              <a:t>Programming paradigms define the ways in which code is </a:t>
            </a:r>
            <a:r>
              <a:rPr lang="en-GB" sz="1900" b="1" dirty="0" smtClean="0">
                <a:solidFill>
                  <a:srgbClr val="FF0000"/>
                </a:solidFill>
              </a:rPr>
              <a:t>structured</a:t>
            </a:r>
            <a:r>
              <a:rPr lang="en-GB" sz="1900" dirty="0" smtClean="0"/>
              <a:t>, </a:t>
            </a:r>
            <a:r>
              <a:rPr lang="en-GB" sz="1900" b="1" dirty="0">
                <a:solidFill>
                  <a:srgbClr val="FF0000"/>
                </a:solidFill>
              </a:rPr>
              <a:t>organized</a:t>
            </a:r>
            <a:r>
              <a:rPr lang="en-GB" sz="1900" dirty="0"/>
              <a:t>, and </a:t>
            </a:r>
            <a:r>
              <a:rPr lang="en-GB" sz="1900" b="1" dirty="0">
                <a:solidFill>
                  <a:srgbClr val="FF0000"/>
                </a:solidFill>
              </a:rPr>
              <a:t>executed</a:t>
            </a:r>
            <a:endParaRPr lang="en-GB" sz="1900" b="1" dirty="0" smtClean="0">
              <a:solidFill>
                <a:srgbClr val="FF0000"/>
              </a:solidFill>
            </a:endParaRPr>
          </a:p>
          <a:p>
            <a:pPr>
              <a:lnSpc>
                <a:spcPct val="160000"/>
              </a:lnSpc>
            </a:pPr>
            <a:r>
              <a:rPr lang="en-GB" sz="1900" dirty="0" smtClean="0"/>
              <a:t>Each </a:t>
            </a:r>
            <a:r>
              <a:rPr lang="en-GB" sz="1900" dirty="0"/>
              <a:t>programming paradigm has its advantages and is suitable for particular types of tasks. </a:t>
            </a:r>
            <a:endParaRPr lang="en-GB" sz="1900" dirty="0" smtClean="0"/>
          </a:p>
          <a:p>
            <a:pPr>
              <a:lnSpc>
                <a:spcPct val="160000"/>
              </a:lnSpc>
            </a:pPr>
            <a:r>
              <a:rPr lang="en-GB" sz="1900" dirty="0" smtClean="0"/>
              <a:t>Different </a:t>
            </a:r>
            <a:r>
              <a:rPr lang="en-GB" sz="1900" dirty="0"/>
              <a:t>paradigms have evolved over time to </a:t>
            </a:r>
            <a:r>
              <a:rPr lang="en-GB" sz="1900" dirty="0" smtClean="0"/>
              <a:t>address;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GB" sz="1700" b="1" dirty="0" smtClean="0">
                <a:solidFill>
                  <a:srgbClr val="FF0000"/>
                </a:solidFill>
              </a:rPr>
              <a:t>Various </a:t>
            </a:r>
            <a:r>
              <a:rPr lang="en-GB" sz="1700" b="1" dirty="0">
                <a:solidFill>
                  <a:srgbClr val="FF0000"/>
                </a:solidFill>
              </a:rPr>
              <a:t>types of </a:t>
            </a:r>
            <a:r>
              <a:rPr lang="en-GB" sz="1700" b="1" dirty="0" smtClean="0">
                <a:solidFill>
                  <a:srgbClr val="FF0000"/>
                </a:solidFill>
              </a:rPr>
              <a:t>problems 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GB" sz="1700" b="1" dirty="0" smtClean="0">
                <a:solidFill>
                  <a:srgbClr val="FF0000"/>
                </a:solidFill>
              </a:rPr>
              <a:t>Provide </a:t>
            </a:r>
            <a:r>
              <a:rPr lang="en-GB" sz="1700" b="1" dirty="0">
                <a:solidFill>
                  <a:srgbClr val="FF0000"/>
                </a:solidFill>
              </a:rPr>
              <a:t>different levels of </a:t>
            </a:r>
            <a:r>
              <a:rPr lang="en-GB" sz="1700" b="1" dirty="0" smtClean="0">
                <a:solidFill>
                  <a:srgbClr val="FF0000"/>
                </a:solidFill>
              </a:rPr>
              <a:t>control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GB" sz="1700" b="1" dirty="0" smtClean="0">
                <a:solidFill>
                  <a:srgbClr val="FF0000"/>
                </a:solidFill>
              </a:rPr>
              <a:t>Modularity </a:t>
            </a:r>
            <a:r>
              <a:rPr lang="en-GB" sz="1700" b="1" dirty="0">
                <a:solidFill>
                  <a:srgbClr val="FF0000"/>
                </a:solidFill>
              </a:rPr>
              <a:t>and </a:t>
            </a:r>
            <a:r>
              <a:rPr lang="en-GB" sz="1700" b="1" dirty="0" smtClean="0">
                <a:solidFill>
                  <a:srgbClr val="FF0000"/>
                </a:solidFill>
              </a:rPr>
              <a:t>efficiency</a:t>
            </a:r>
          </a:p>
          <a:p>
            <a:pPr>
              <a:lnSpc>
                <a:spcPct val="160000"/>
              </a:lnSpc>
            </a:pPr>
            <a:r>
              <a:rPr lang="en-GB" sz="1900" dirty="0"/>
              <a:t>Understanding these types of programming is essential for selecting the right approach for a problem or project</a:t>
            </a:r>
            <a:r>
              <a:rPr lang="en-GB" sz="1900" dirty="0" smtClean="0"/>
              <a:t>.</a:t>
            </a:r>
            <a:endParaRPr lang="en-GB" sz="190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"/>
          </p:nvPr>
        </p:nvSpPr>
        <p:spPr>
          <a:xfrm>
            <a:off x="6450495" y="744328"/>
            <a:ext cx="5183188" cy="532648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Programming Paradigms Applications</a:t>
            </a:r>
            <a:endParaRPr lang="en-GB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6258007" y="1293018"/>
            <a:ext cx="5728583" cy="556498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14000"/>
              </a:lnSpc>
            </a:pPr>
            <a:r>
              <a:rPr lang="en-GB" sz="2000" b="1" dirty="0" smtClean="0"/>
              <a:t>Unstructured programming</a:t>
            </a:r>
            <a:r>
              <a:rPr lang="en-GB" sz="2000" dirty="0"/>
              <a:t> is simple but unsuitable for large programs</a:t>
            </a:r>
            <a:endParaRPr lang="en-GB" sz="2000" dirty="0" smtClean="0"/>
          </a:p>
          <a:p>
            <a:pPr>
              <a:lnSpc>
                <a:spcPct val="114000"/>
              </a:lnSpc>
            </a:pPr>
            <a:r>
              <a:rPr lang="en-GB" sz="2000" b="1" dirty="0" smtClean="0"/>
              <a:t>Modular programming</a:t>
            </a:r>
            <a:r>
              <a:rPr lang="en-GB" sz="2000" dirty="0" smtClean="0"/>
              <a:t> and </a:t>
            </a:r>
            <a:r>
              <a:rPr lang="en-GB" sz="2000" b="1" dirty="0" smtClean="0"/>
              <a:t>Object-Oriented Programs</a:t>
            </a:r>
            <a:r>
              <a:rPr lang="en-GB" sz="2000" dirty="0" smtClean="0"/>
              <a:t> enhance reusability and scalability. </a:t>
            </a:r>
          </a:p>
          <a:p>
            <a:pPr>
              <a:lnSpc>
                <a:spcPct val="114000"/>
              </a:lnSpc>
            </a:pPr>
            <a:r>
              <a:rPr lang="en-GB" sz="2000" b="1" dirty="0" smtClean="0"/>
              <a:t>Recursive </a:t>
            </a:r>
            <a:r>
              <a:rPr lang="en-GB" sz="2000" b="1" dirty="0"/>
              <a:t>programming</a:t>
            </a:r>
            <a:r>
              <a:rPr lang="en-GB" sz="2000" dirty="0"/>
              <a:t> simplifies code for problems with a self-similar </a:t>
            </a:r>
            <a:r>
              <a:rPr lang="en-GB" sz="2000" dirty="0" smtClean="0"/>
              <a:t>structure</a:t>
            </a:r>
          </a:p>
          <a:p>
            <a:pPr>
              <a:lnSpc>
                <a:spcPct val="114000"/>
              </a:lnSpc>
            </a:pPr>
            <a:r>
              <a:rPr lang="en-GB" sz="2000" b="1" dirty="0" smtClean="0"/>
              <a:t>Dynamic </a:t>
            </a:r>
            <a:r>
              <a:rPr lang="en-GB" sz="2000" b="1" dirty="0"/>
              <a:t>programming</a:t>
            </a:r>
            <a:r>
              <a:rPr lang="en-GB" sz="2000" dirty="0"/>
              <a:t> optimizes recursive solutions for more complex problems. </a:t>
            </a:r>
            <a:endParaRPr lang="en-GB" sz="2000" dirty="0" smtClean="0"/>
          </a:p>
          <a:p>
            <a:pPr>
              <a:lnSpc>
                <a:spcPct val="114000"/>
              </a:lnSpc>
            </a:pPr>
            <a:r>
              <a:rPr lang="en-GB" sz="2000" b="1" dirty="0" smtClean="0"/>
              <a:t>Functional</a:t>
            </a:r>
            <a:r>
              <a:rPr lang="en-GB" sz="2000" dirty="0" smtClean="0"/>
              <a:t> </a:t>
            </a:r>
            <a:r>
              <a:rPr lang="en-GB" sz="2000" dirty="0"/>
              <a:t>and </a:t>
            </a:r>
            <a:r>
              <a:rPr lang="en-GB" sz="2000" b="1" dirty="0"/>
              <a:t>declarative programming</a:t>
            </a:r>
            <a:r>
              <a:rPr lang="en-GB" sz="2000" dirty="0"/>
              <a:t> focus on expressing the logic of a </a:t>
            </a:r>
            <a:r>
              <a:rPr lang="en-GB" sz="2000" dirty="0" smtClean="0"/>
              <a:t>problem</a:t>
            </a:r>
          </a:p>
          <a:p>
            <a:pPr>
              <a:lnSpc>
                <a:spcPct val="114000"/>
              </a:lnSpc>
            </a:pPr>
            <a:r>
              <a:rPr lang="en-GB" sz="2000" b="1" dirty="0" smtClean="0"/>
              <a:t>Event-driven </a:t>
            </a:r>
            <a:r>
              <a:rPr lang="en-GB" sz="2000" b="1" dirty="0"/>
              <a:t>programming</a:t>
            </a:r>
            <a:r>
              <a:rPr lang="en-GB" sz="2000" dirty="0"/>
              <a:t> responds to real-time events. </a:t>
            </a:r>
          </a:p>
        </p:txBody>
      </p:sp>
    </p:spTree>
    <p:extLst>
      <p:ext uri="{BB962C8B-B14F-4D97-AF65-F5344CB8AC3E}">
        <p14:creationId xmlns:p14="http://schemas.microsoft.com/office/powerpoint/2010/main" val="410621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9775" y="44444"/>
            <a:ext cx="10515600" cy="913137"/>
          </a:xfrm>
        </p:spPr>
        <p:txBody>
          <a:bodyPr>
            <a:normAutofit/>
          </a:bodyPr>
          <a:lstStyle/>
          <a:p>
            <a:pPr algn="ctr"/>
            <a:r>
              <a:rPr lang="en-GB" dirty="0" smtClean="0">
                <a:solidFill>
                  <a:srgbClr val="FF0000"/>
                </a:solidFill>
                <a:latin typeface="+mn-lt"/>
              </a:rPr>
              <a:t>Types of Programming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1194357"/>
            <a:ext cx="12192000" cy="517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05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9775" y="44444"/>
            <a:ext cx="10515600" cy="913137"/>
          </a:xfrm>
        </p:spPr>
        <p:txBody>
          <a:bodyPr>
            <a:normAutofit/>
          </a:bodyPr>
          <a:lstStyle/>
          <a:p>
            <a:pPr algn="ctr"/>
            <a:r>
              <a:rPr lang="en-GB" dirty="0" smtClean="0">
                <a:solidFill>
                  <a:srgbClr val="FF0000"/>
                </a:solidFill>
                <a:latin typeface="+mn-lt"/>
              </a:rPr>
              <a:t>Types of Programming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924753"/>
            <a:ext cx="12192000" cy="571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46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9775" y="44444"/>
            <a:ext cx="10515600" cy="913137"/>
          </a:xfrm>
        </p:spPr>
        <p:txBody>
          <a:bodyPr>
            <a:normAutofit/>
          </a:bodyPr>
          <a:lstStyle/>
          <a:p>
            <a:pPr algn="ctr"/>
            <a:r>
              <a:rPr lang="en-GB" dirty="0" smtClean="0">
                <a:solidFill>
                  <a:srgbClr val="FF0000"/>
                </a:solidFill>
                <a:latin typeface="+mn-lt"/>
              </a:rPr>
              <a:t>Types of Functions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1023266"/>
            <a:ext cx="12106501" cy="548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78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9775" y="44444"/>
            <a:ext cx="10515600" cy="913137"/>
          </a:xfrm>
        </p:spPr>
        <p:txBody>
          <a:bodyPr>
            <a:normAutofit/>
          </a:bodyPr>
          <a:lstStyle/>
          <a:p>
            <a:pPr algn="ctr"/>
            <a:r>
              <a:rPr lang="en-GB" dirty="0" smtClean="0">
                <a:solidFill>
                  <a:srgbClr val="FF0000"/>
                </a:solidFill>
                <a:latin typeface="+mn-lt"/>
              </a:rPr>
              <a:t>Types of Functions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68" y="824298"/>
            <a:ext cx="12129932" cy="515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16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9787" y="-83971"/>
            <a:ext cx="10515600" cy="1001609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+mn-lt"/>
              </a:rPr>
              <a:t>Recursive Programming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0" y="632035"/>
            <a:ext cx="5157787" cy="500563"/>
          </a:xfrm>
        </p:spPr>
        <p:txBody>
          <a:bodyPr/>
          <a:lstStyle/>
          <a:p>
            <a:pPr algn="ctr"/>
            <a:r>
              <a:rPr lang="en-GB" dirty="0" smtClean="0"/>
              <a:t>Introduction to Recursion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60421" y="1133627"/>
            <a:ext cx="5719512" cy="5724373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sz="2000" dirty="0" smtClean="0"/>
              <a:t>A </a:t>
            </a:r>
            <a:r>
              <a:rPr lang="en-GB" sz="2000" dirty="0"/>
              <a:t>technique where a function calls itself in order to solve </a:t>
            </a:r>
            <a:r>
              <a:rPr lang="en-GB" sz="2000" dirty="0" smtClean="0"/>
              <a:t>smaller instances of the same problem</a:t>
            </a:r>
            <a:r>
              <a:rPr lang="en-GB" sz="2000" dirty="0"/>
              <a:t>.</a:t>
            </a:r>
            <a:r>
              <a:rPr lang="en-GB" sz="1900" dirty="0" smtClean="0"/>
              <a:t> </a:t>
            </a:r>
          </a:p>
          <a:p>
            <a:pPr>
              <a:lnSpc>
                <a:spcPct val="160000"/>
              </a:lnSpc>
            </a:pPr>
            <a:r>
              <a:rPr lang="en-GB" sz="2000" dirty="0"/>
              <a:t>Each </a:t>
            </a:r>
            <a:r>
              <a:rPr lang="en-GB" sz="2000" dirty="0" smtClean="0"/>
              <a:t>call </a:t>
            </a:r>
            <a:r>
              <a:rPr lang="en-GB" sz="2000" dirty="0"/>
              <a:t>typically works on a smaller subset of the original problem </a:t>
            </a:r>
            <a:endParaRPr lang="en-GB" sz="2000" dirty="0" smtClean="0"/>
          </a:p>
          <a:p>
            <a:pPr>
              <a:lnSpc>
                <a:spcPct val="160000"/>
              </a:lnSpc>
            </a:pPr>
            <a:r>
              <a:rPr lang="en-GB" sz="2000" dirty="0" smtClean="0"/>
              <a:t>Terminates when a </a:t>
            </a:r>
            <a:r>
              <a:rPr lang="en-GB" sz="2000" dirty="0"/>
              <a:t>base </a:t>
            </a:r>
            <a:r>
              <a:rPr lang="en-GB" sz="2000" dirty="0" smtClean="0"/>
              <a:t>case is reached, </a:t>
            </a:r>
            <a:r>
              <a:rPr lang="en-GB" sz="2000" dirty="0"/>
              <a:t>where the solution is directly </a:t>
            </a:r>
            <a:r>
              <a:rPr lang="en-GB" sz="2000" dirty="0" smtClean="0"/>
              <a:t>known</a:t>
            </a:r>
          </a:p>
          <a:p>
            <a:pPr>
              <a:lnSpc>
                <a:spcPct val="160000"/>
              </a:lnSpc>
            </a:pPr>
            <a:r>
              <a:rPr lang="en-GB" sz="2000" dirty="0"/>
              <a:t>understanding its types and applications can greatly enhance problem-solving capabilities in computational tasks.</a:t>
            </a:r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60000"/>
              </a:lnSpc>
            </a:pPr>
            <a:endParaRPr lang="en-GB" sz="2000" dirty="0" smtClean="0"/>
          </a:p>
          <a:p>
            <a:pPr>
              <a:lnSpc>
                <a:spcPct val="160000"/>
              </a:lnSpc>
            </a:pPr>
            <a:endParaRPr lang="en-GB" sz="190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"/>
          </p:nvPr>
        </p:nvSpPr>
        <p:spPr>
          <a:xfrm>
            <a:off x="6425328" y="598563"/>
            <a:ext cx="5183188" cy="532648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Characteristics of Recursive Functions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5879933" y="1131211"/>
            <a:ext cx="6106657" cy="572678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000" b="1" dirty="0"/>
              <a:t>Base Case:</a:t>
            </a:r>
            <a:r>
              <a:rPr lang="en-GB" sz="2000" dirty="0"/>
              <a:t> A condition under which the recursion stops. Without a base case, the recursion would lead to an infinite loop.</a:t>
            </a:r>
            <a:endParaRPr lang="en-GB" sz="19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000" b="1" dirty="0"/>
              <a:t>Recursive Case:</a:t>
            </a:r>
            <a:r>
              <a:rPr lang="en-GB" sz="2000" dirty="0"/>
              <a:t> This is where the function calls itself with modified arguments, generally simplifying the problem in each step</a:t>
            </a:r>
            <a:r>
              <a:rPr lang="en-GB" sz="2000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000" b="1" dirty="0"/>
              <a:t>Stack Memory Usage:</a:t>
            </a:r>
            <a:r>
              <a:rPr lang="en-GB" sz="2000" dirty="0"/>
              <a:t> Recursive functions use stack memory to remember the function calls, leading to a chain of calls until the base case is met. This can sometimes lead to a stack overflow if recursion goes too deep without a base case</a:t>
            </a:r>
            <a:r>
              <a:rPr lang="en-GB" sz="2000" dirty="0" smtClean="0"/>
              <a:t>.</a:t>
            </a:r>
            <a:endParaRPr lang="en-GB" sz="1900" dirty="0" smtClean="0"/>
          </a:p>
        </p:txBody>
      </p:sp>
    </p:spTree>
    <p:extLst>
      <p:ext uri="{BB962C8B-B14F-4D97-AF65-F5344CB8AC3E}">
        <p14:creationId xmlns:p14="http://schemas.microsoft.com/office/powerpoint/2010/main" val="296390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0" y="107975"/>
            <a:ext cx="5157787" cy="500563"/>
          </a:xfrm>
        </p:spPr>
        <p:txBody>
          <a:bodyPr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Applications of Recursion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60421" y="608539"/>
            <a:ext cx="5150881" cy="6249462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 dirty="0"/>
              <a:t>Mathematical Problems:</a:t>
            </a:r>
            <a:r>
              <a:rPr lang="en-GB" sz="1800" dirty="0"/>
              <a:t> Solving problems like factorial, Fibonacci, Ackermann function</a:t>
            </a: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 dirty="0"/>
              <a:t>Data Structures:</a:t>
            </a:r>
            <a:r>
              <a:rPr lang="en-GB" sz="1800" dirty="0"/>
              <a:t> Recursive traversals of data structures like trees and graphs (e.g., depth-first search, in-order, pre-order, and post-order traversals).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 dirty="0"/>
              <a:t>Divide and Conquer Algorithms:</a:t>
            </a:r>
            <a:r>
              <a:rPr lang="en-GB" sz="1800" dirty="0"/>
              <a:t> Sorting algorithms like QuickSort and MergeSort utilize recursion.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 dirty="0"/>
              <a:t>Dynamic Programming:</a:t>
            </a:r>
            <a:r>
              <a:rPr lang="en-GB" sz="1800" dirty="0"/>
              <a:t> Recursive solutions can be optimized using </a:t>
            </a:r>
            <a:r>
              <a:rPr lang="en-GB" sz="1800" dirty="0" err="1"/>
              <a:t>memoization</a:t>
            </a:r>
            <a:r>
              <a:rPr lang="en-GB" sz="1800" dirty="0"/>
              <a:t> in dynamic programming.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 dirty="0"/>
              <a:t>Combinatorics:</a:t>
            </a:r>
            <a:r>
              <a:rPr lang="en-GB" sz="1800" dirty="0"/>
              <a:t> Generating combinations and permutations</a:t>
            </a:r>
            <a:r>
              <a:rPr lang="en-GB" sz="1800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800" dirty="0" smtClean="0"/>
          </a:p>
          <a:p>
            <a:pPr>
              <a:lnSpc>
                <a:spcPct val="160000"/>
              </a:lnSpc>
            </a:pPr>
            <a:endParaRPr lang="en-GB" sz="180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"/>
          </p:nvPr>
        </p:nvSpPr>
        <p:spPr>
          <a:xfrm>
            <a:off x="6425327" y="99387"/>
            <a:ext cx="5183188" cy="532648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Merits of Recursion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5471723" y="608539"/>
            <a:ext cx="6720277" cy="314633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 dirty="0"/>
              <a:t>Modularity and Reusability</a:t>
            </a:r>
            <a:r>
              <a:rPr lang="en-GB" sz="1800" b="1" dirty="0" smtClean="0"/>
              <a:t>:</a:t>
            </a:r>
            <a:r>
              <a:rPr lang="en-GB" sz="1800" dirty="0" smtClean="0"/>
              <a:t> </a:t>
            </a:r>
            <a:r>
              <a:rPr lang="en-GB" sz="1800" dirty="0"/>
              <a:t>S</a:t>
            </a:r>
            <a:r>
              <a:rPr lang="en-GB" sz="1800" dirty="0" smtClean="0"/>
              <a:t>olutions </a:t>
            </a:r>
            <a:r>
              <a:rPr lang="en-GB" sz="1800" dirty="0"/>
              <a:t>are often </a:t>
            </a:r>
            <a:r>
              <a:rPr lang="en-GB" sz="1800" dirty="0" smtClean="0"/>
              <a:t>more elegant, </a:t>
            </a:r>
            <a:r>
              <a:rPr lang="en-GB" sz="1800" dirty="0"/>
              <a:t>easier to </a:t>
            </a:r>
            <a:r>
              <a:rPr lang="en-GB" sz="1800" dirty="0" smtClean="0"/>
              <a:t>read, </a:t>
            </a:r>
            <a:r>
              <a:rPr lang="en-GB" sz="1800" dirty="0"/>
              <a:t>maintain and reuse</a:t>
            </a:r>
            <a:endParaRPr lang="en-GB" sz="18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 dirty="0" smtClean="0"/>
              <a:t>Problem </a:t>
            </a:r>
            <a:r>
              <a:rPr lang="en-GB" sz="1800" b="1" dirty="0"/>
              <a:t>Breakdown:</a:t>
            </a:r>
            <a:r>
              <a:rPr lang="en-GB" sz="1800" dirty="0"/>
              <a:t> </a:t>
            </a:r>
            <a:r>
              <a:rPr lang="en-GB" sz="1800" dirty="0" smtClean="0"/>
              <a:t>Natural </a:t>
            </a:r>
            <a:r>
              <a:rPr lang="en-GB" sz="1800" dirty="0"/>
              <a:t>way to </a:t>
            </a:r>
            <a:r>
              <a:rPr lang="en-GB" sz="1800" dirty="0" smtClean="0"/>
              <a:t>model processes involving </a:t>
            </a:r>
            <a:r>
              <a:rPr lang="en-GB" sz="1800" dirty="0"/>
              <a:t>repetition or self-similarity</a:t>
            </a:r>
            <a:r>
              <a:rPr lang="en-GB" sz="1800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 dirty="0"/>
              <a:t>Real-Time Decision Making:</a:t>
            </a:r>
            <a:r>
              <a:rPr lang="en-GB" sz="1800" dirty="0"/>
              <a:t> E</a:t>
            </a:r>
            <a:r>
              <a:rPr lang="en-GB" sz="1800" dirty="0" smtClean="0"/>
              <a:t>nhances </a:t>
            </a:r>
            <a:r>
              <a:rPr lang="en-GB" sz="1800" dirty="0"/>
              <a:t>system responsiveness, accuracy, real-time feedback and adjustments based on changing inputs</a:t>
            </a:r>
            <a:endParaRPr lang="en-GB" sz="1800" dirty="0" smtClean="0"/>
          </a:p>
        </p:txBody>
      </p:sp>
      <p:sp>
        <p:nvSpPr>
          <p:cNvPr id="7" name="Text Placeholder 18"/>
          <p:cNvSpPr txBox="1">
            <a:spLocks/>
          </p:cNvSpPr>
          <p:nvPr/>
        </p:nvSpPr>
        <p:spPr>
          <a:xfrm>
            <a:off x="6105225" y="3618689"/>
            <a:ext cx="5183188" cy="532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>
                <a:solidFill>
                  <a:srgbClr val="FF0000"/>
                </a:solidFill>
              </a:rPr>
              <a:t>Demerits of Recursion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9" name="Content Placeholder 9"/>
          <p:cNvSpPr txBox="1">
            <a:spLocks/>
          </p:cNvSpPr>
          <p:nvPr/>
        </p:nvSpPr>
        <p:spPr>
          <a:xfrm>
            <a:off x="5471723" y="4085617"/>
            <a:ext cx="6610612" cy="27723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 dirty="0"/>
              <a:t>Performance:</a:t>
            </a:r>
            <a:r>
              <a:rPr lang="en-GB" sz="1800" dirty="0"/>
              <a:t> </a:t>
            </a:r>
            <a:r>
              <a:rPr lang="en-GB" sz="1800" dirty="0" smtClean="0"/>
              <a:t>slower </a:t>
            </a:r>
            <a:r>
              <a:rPr lang="en-GB" sz="1800" dirty="0"/>
              <a:t>due to the overhead of multiple function calls and the use of stack memory</a:t>
            </a:r>
            <a:r>
              <a:rPr lang="en-GB" sz="1800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 dirty="0"/>
              <a:t>Stack Overflow:</a:t>
            </a:r>
            <a:r>
              <a:rPr lang="en-GB" sz="1800" dirty="0"/>
              <a:t> Too deep recursion can lead to stack overflow if the base case is not reached quickly or for large inputs</a:t>
            </a:r>
            <a:r>
              <a:rPr lang="en-GB" sz="1800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800" b="1" dirty="0"/>
              <a:t>Complexity in Debugging:</a:t>
            </a:r>
            <a:r>
              <a:rPr lang="en-GB" sz="1800" dirty="0"/>
              <a:t> </a:t>
            </a:r>
            <a:r>
              <a:rPr lang="en-GB" sz="1800" dirty="0" smtClean="0"/>
              <a:t>multi-layered function calls can </a:t>
            </a:r>
            <a:r>
              <a:rPr lang="en-GB" sz="1800" dirty="0"/>
              <a:t>sometimes be harder to </a:t>
            </a:r>
            <a:r>
              <a:rPr lang="en-GB" sz="1800" dirty="0" smtClean="0"/>
              <a:t>debug</a:t>
            </a:r>
          </a:p>
        </p:txBody>
      </p:sp>
    </p:spTree>
    <p:extLst>
      <p:ext uri="{BB962C8B-B14F-4D97-AF65-F5344CB8AC3E}">
        <p14:creationId xmlns:p14="http://schemas.microsoft.com/office/powerpoint/2010/main" val="205507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9775" y="44444"/>
            <a:ext cx="10515600" cy="913137"/>
          </a:xfrm>
        </p:spPr>
        <p:txBody>
          <a:bodyPr>
            <a:normAutofit/>
          </a:bodyPr>
          <a:lstStyle/>
          <a:p>
            <a:pPr algn="ctr"/>
            <a:r>
              <a:rPr lang="en-GB" dirty="0" smtClean="0">
                <a:solidFill>
                  <a:srgbClr val="FF0000"/>
                </a:solidFill>
                <a:latin typeface="+mn-lt"/>
              </a:rPr>
              <a:t>Types of Recursive Functions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4221" y="724117"/>
            <a:ext cx="12007779" cy="594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5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9775" y="44444"/>
            <a:ext cx="10515600" cy="913137"/>
          </a:xfrm>
        </p:spPr>
        <p:txBody>
          <a:bodyPr>
            <a:normAutofit/>
          </a:bodyPr>
          <a:lstStyle/>
          <a:p>
            <a:pPr algn="ctr"/>
            <a:r>
              <a:rPr lang="en-GB" dirty="0" smtClean="0">
                <a:solidFill>
                  <a:srgbClr val="FF0000"/>
                </a:solidFill>
                <a:latin typeface="+mn-lt"/>
              </a:rPr>
              <a:t>Types of Recursive Functions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9" y="977033"/>
            <a:ext cx="12164411" cy="538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63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9787" y="-83971"/>
            <a:ext cx="10515600" cy="1001609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+mn-lt"/>
              </a:rPr>
              <a:t>Dynamic Programming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-348644" y="633064"/>
            <a:ext cx="5157787" cy="500563"/>
          </a:xfrm>
        </p:spPr>
        <p:txBody>
          <a:bodyPr/>
          <a:lstStyle/>
          <a:p>
            <a:pPr algn="ctr"/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0" y="1133627"/>
            <a:ext cx="5157787" cy="5724373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US" sz="1900" dirty="0"/>
              <a:t>A</a:t>
            </a:r>
            <a:r>
              <a:rPr lang="en-US" sz="1900" dirty="0" smtClean="0"/>
              <a:t>n </a:t>
            </a:r>
            <a:r>
              <a:rPr lang="en-US" sz="1900" dirty="0"/>
              <a:t>optimization technique used to solve </a:t>
            </a:r>
            <a:r>
              <a:rPr lang="en-US" sz="1900" dirty="0" smtClean="0"/>
              <a:t>complex </a:t>
            </a:r>
            <a:r>
              <a:rPr lang="en-US" sz="1900" dirty="0"/>
              <a:t>problems by breaking them down into simpler </a:t>
            </a:r>
            <a:r>
              <a:rPr lang="en-US" sz="1900" dirty="0" smtClean="0"/>
              <a:t>subproblems</a:t>
            </a:r>
            <a:endParaRPr lang="en-US" sz="1900" dirty="0"/>
          </a:p>
          <a:p>
            <a:pPr>
              <a:lnSpc>
                <a:spcPct val="160000"/>
              </a:lnSpc>
            </a:pPr>
            <a:r>
              <a:rPr lang="en-US" sz="1900" dirty="0"/>
              <a:t>S</a:t>
            </a:r>
            <a:r>
              <a:rPr lang="en-US" sz="1900" dirty="0" smtClean="0"/>
              <a:t>tores </a:t>
            </a:r>
            <a:r>
              <a:rPr lang="en-US" sz="1900" dirty="0"/>
              <a:t>the results of these subproblems to avoid redundant computations</a:t>
            </a:r>
            <a:r>
              <a:rPr lang="en-US" sz="1900" dirty="0" smtClean="0"/>
              <a:t>.</a:t>
            </a:r>
            <a:r>
              <a:rPr lang="en-GB" sz="1900" dirty="0" smtClean="0"/>
              <a:t> </a:t>
            </a:r>
          </a:p>
          <a:p>
            <a:pPr>
              <a:lnSpc>
                <a:spcPct val="160000"/>
              </a:lnSpc>
            </a:pPr>
            <a:r>
              <a:rPr lang="en-US" sz="1900" dirty="0"/>
              <a:t>Optimizes recursion </a:t>
            </a:r>
            <a:r>
              <a:rPr lang="en-US" sz="1900" dirty="0" smtClean="0"/>
              <a:t>through</a:t>
            </a:r>
            <a:r>
              <a:rPr lang="en-US" sz="1900" dirty="0" smtClean="0">
                <a:solidFill>
                  <a:srgbClr val="FF0000"/>
                </a:solidFill>
              </a:rPr>
              <a:t> </a:t>
            </a:r>
            <a:r>
              <a:rPr lang="en-US" sz="1900" b="1" dirty="0" smtClean="0">
                <a:solidFill>
                  <a:srgbClr val="FF0000"/>
                </a:solidFill>
              </a:rPr>
              <a:t>storage</a:t>
            </a:r>
            <a:r>
              <a:rPr lang="en-US" sz="1900" dirty="0" smtClean="0">
                <a:solidFill>
                  <a:srgbClr val="FF0000"/>
                </a:solidFill>
              </a:rPr>
              <a:t> </a:t>
            </a:r>
            <a:r>
              <a:rPr lang="en-US" sz="1900" dirty="0"/>
              <a:t>and </a:t>
            </a:r>
            <a:r>
              <a:rPr lang="en-US" sz="1900" b="1" dirty="0" smtClean="0">
                <a:solidFill>
                  <a:srgbClr val="FF0000"/>
                </a:solidFill>
              </a:rPr>
              <a:t>reuse </a:t>
            </a:r>
            <a:r>
              <a:rPr lang="en-US" sz="1900" b="1" dirty="0">
                <a:solidFill>
                  <a:srgbClr val="FF0000"/>
                </a:solidFill>
              </a:rPr>
              <a:t>results</a:t>
            </a:r>
            <a:r>
              <a:rPr lang="en-US" sz="1900" dirty="0"/>
              <a:t> of subproblems </a:t>
            </a:r>
            <a:r>
              <a:rPr lang="en-US" sz="1900" b="1" dirty="0" smtClean="0">
                <a:solidFill>
                  <a:srgbClr val="FF0000"/>
                </a:solidFill>
              </a:rPr>
              <a:t>thus avoiding </a:t>
            </a:r>
            <a:r>
              <a:rPr lang="en-US" sz="1900" b="1" dirty="0">
                <a:solidFill>
                  <a:srgbClr val="FF0000"/>
                </a:solidFill>
              </a:rPr>
              <a:t>redundant computations</a:t>
            </a:r>
            <a:r>
              <a:rPr lang="en-US" sz="1900" dirty="0" smtClean="0"/>
              <a:t>.</a:t>
            </a:r>
          </a:p>
          <a:p>
            <a:pPr>
              <a:lnSpc>
                <a:spcPct val="160000"/>
              </a:lnSpc>
            </a:pPr>
            <a:r>
              <a:rPr lang="en-GB" sz="1900" dirty="0" smtClean="0"/>
              <a:t>Is </a:t>
            </a:r>
            <a:r>
              <a:rPr lang="en-GB" sz="1900" dirty="0"/>
              <a:t>effective when a problem exhibits </a:t>
            </a:r>
            <a:r>
              <a:rPr lang="en-GB" sz="1900" b="1" dirty="0" smtClean="0">
                <a:solidFill>
                  <a:schemeClr val="accent1">
                    <a:lumMod val="75000"/>
                  </a:schemeClr>
                </a:solidFill>
              </a:rPr>
              <a:t>An </a:t>
            </a:r>
            <a:r>
              <a:rPr lang="en-GB" sz="1900" b="1" dirty="0">
                <a:solidFill>
                  <a:schemeClr val="accent1">
                    <a:lumMod val="75000"/>
                  </a:schemeClr>
                </a:solidFill>
              </a:rPr>
              <a:t>Optimal Substructure</a:t>
            </a:r>
            <a:r>
              <a:rPr lang="en-GB" sz="1900" dirty="0"/>
              <a:t> and </a:t>
            </a:r>
            <a:r>
              <a:rPr lang="en-GB" sz="1900" b="1" dirty="0">
                <a:solidFill>
                  <a:schemeClr val="accent1">
                    <a:lumMod val="75000"/>
                  </a:schemeClr>
                </a:solidFill>
              </a:rPr>
              <a:t>Overlapping </a:t>
            </a:r>
            <a:r>
              <a:rPr lang="en-GB" sz="1900" b="1" dirty="0" err="1" smtClean="0">
                <a:solidFill>
                  <a:schemeClr val="accent1">
                    <a:lumMod val="75000"/>
                  </a:schemeClr>
                </a:solidFill>
              </a:rPr>
              <a:t>Subproblems</a:t>
            </a:r>
            <a:endParaRPr lang="en-GB" sz="19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60000"/>
              </a:lnSpc>
            </a:pPr>
            <a:endParaRPr lang="en-GB" sz="1900" dirty="0"/>
          </a:p>
        </p:txBody>
      </p:sp>
      <p:sp>
        <p:nvSpPr>
          <p:cNvPr id="12" name="Content Placeholder 9"/>
          <p:cNvSpPr>
            <a:spLocks noGrp="1"/>
          </p:cNvSpPr>
          <p:nvPr>
            <p:ph sz="quarter" idx="4"/>
          </p:nvPr>
        </p:nvSpPr>
        <p:spPr>
          <a:xfrm>
            <a:off x="5309937" y="1138990"/>
            <a:ext cx="6882063" cy="571901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900" b="1" dirty="0"/>
              <a:t>Optimal Substructure</a:t>
            </a:r>
            <a:r>
              <a:rPr lang="en-GB" sz="1900" b="1" dirty="0" smtClean="0"/>
              <a:t>:</a:t>
            </a:r>
            <a:r>
              <a:rPr lang="en-GB" sz="1900" dirty="0" smtClean="0"/>
              <a:t> A problem </a:t>
            </a:r>
            <a:r>
              <a:rPr lang="en-GB" sz="1900" dirty="0"/>
              <a:t>has an optimal substructure if its solution can be obtained by solving </a:t>
            </a:r>
            <a:r>
              <a:rPr lang="en-GB" sz="1900" dirty="0" err="1"/>
              <a:t>subproblems</a:t>
            </a:r>
            <a:r>
              <a:rPr lang="en-GB" sz="1900" dirty="0"/>
              <a:t> and combining their solutions. </a:t>
            </a:r>
            <a:endParaRPr lang="en-GB" sz="19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GB" sz="1900" dirty="0" smtClean="0"/>
              <a:t>This </a:t>
            </a:r>
            <a:r>
              <a:rPr lang="en-GB" sz="1900" dirty="0"/>
              <a:t>property allows us to recursively define a problem in terms of its </a:t>
            </a:r>
            <a:r>
              <a:rPr lang="en-GB" sz="1900" dirty="0" err="1"/>
              <a:t>subproblems</a:t>
            </a:r>
            <a:r>
              <a:rPr lang="en-GB" sz="1900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900" b="1" dirty="0" smtClean="0"/>
              <a:t>Overlapping </a:t>
            </a:r>
            <a:r>
              <a:rPr lang="en-GB" sz="1900" b="1" dirty="0" err="1"/>
              <a:t>Subproblems</a:t>
            </a:r>
            <a:r>
              <a:rPr lang="en-GB" sz="1900" b="1" dirty="0" smtClean="0"/>
              <a:t>:</a:t>
            </a:r>
            <a:r>
              <a:rPr lang="en-GB" sz="1900" dirty="0" smtClean="0"/>
              <a:t> </a:t>
            </a:r>
            <a:r>
              <a:rPr lang="en-GB" sz="1900" dirty="0"/>
              <a:t>Many DP problems involve solving the same subproblem multiple </a:t>
            </a:r>
            <a:r>
              <a:rPr lang="en-GB" sz="1900" dirty="0" smtClean="0"/>
              <a:t>times.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GB" sz="1900" dirty="0" smtClean="0"/>
              <a:t>Instead </a:t>
            </a:r>
            <a:r>
              <a:rPr lang="en-GB" sz="1900" dirty="0"/>
              <a:t>of recalculating the result every time, dynamic programming stores these results to avoid redundant </a:t>
            </a:r>
            <a:r>
              <a:rPr lang="en-GB" sz="1900" dirty="0" smtClean="0"/>
              <a:t>calculations.</a:t>
            </a:r>
            <a:endParaRPr lang="en-US" sz="19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900" dirty="0" smtClean="0"/>
              <a:t>Implemented </a:t>
            </a:r>
            <a:r>
              <a:rPr lang="en-GB" sz="1900" dirty="0"/>
              <a:t>through either </a:t>
            </a:r>
            <a:r>
              <a:rPr lang="en-GB" sz="1900" b="1" dirty="0"/>
              <a:t>Memoization (Top-down approach) </a:t>
            </a:r>
            <a:r>
              <a:rPr lang="en-GB" sz="1900" dirty="0"/>
              <a:t>or </a:t>
            </a:r>
            <a:r>
              <a:rPr lang="en-GB" sz="1900" b="1" dirty="0"/>
              <a:t>Tabulation (Bottom-up approach)</a:t>
            </a:r>
            <a:endParaRPr lang="en-GB" sz="1900" dirty="0"/>
          </a:p>
          <a:p>
            <a:pPr marL="457200" lvl="1" indent="0">
              <a:lnSpc>
                <a:spcPct val="150000"/>
              </a:lnSpc>
              <a:buNone/>
            </a:pPr>
            <a:endParaRPr lang="en-GB" sz="1900" dirty="0" smtClean="0"/>
          </a:p>
        </p:txBody>
      </p:sp>
      <p:sp>
        <p:nvSpPr>
          <p:cNvPr id="13" name="Text Placeholder 18"/>
          <p:cNvSpPr>
            <a:spLocks noGrp="1"/>
          </p:cNvSpPr>
          <p:nvPr>
            <p:ph type="body" sz="quarter" idx="3"/>
          </p:nvPr>
        </p:nvSpPr>
        <p:spPr>
          <a:xfrm>
            <a:off x="6159374" y="606342"/>
            <a:ext cx="5183188" cy="532648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Key Concepts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585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866274" y="107978"/>
            <a:ext cx="10796337" cy="500562"/>
          </a:xfrm>
        </p:spPr>
        <p:txBody>
          <a:bodyPr>
            <a:noAutofit/>
          </a:bodyPr>
          <a:lstStyle/>
          <a:p>
            <a:pPr algn="ctr"/>
            <a:r>
              <a:rPr lang="en-GB" sz="3000" dirty="0">
                <a:solidFill>
                  <a:srgbClr val="FF0000"/>
                </a:solidFill>
              </a:rPr>
              <a:t>Memoization (Top-Down </a:t>
            </a:r>
            <a:r>
              <a:rPr lang="en-GB" sz="3000" dirty="0" smtClean="0">
                <a:solidFill>
                  <a:srgbClr val="FF0000"/>
                </a:solidFill>
              </a:rPr>
              <a:t>Dynamic Programming)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60422" y="608540"/>
            <a:ext cx="11921914" cy="1974239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1900" dirty="0"/>
              <a:t>Memoization involves solving the problem recursively and storing the result of each subproblem in a cache (a data structure like a table, dictionary, or array). </a:t>
            </a:r>
            <a:endParaRPr lang="en-GB" sz="1900" dirty="0" smtClean="0"/>
          </a:p>
          <a:p>
            <a:pPr>
              <a:lnSpc>
                <a:spcPct val="150000"/>
              </a:lnSpc>
            </a:pPr>
            <a:r>
              <a:rPr lang="en-GB" sz="1900" dirty="0" smtClean="0"/>
              <a:t>This </a:t>
            </a:r>
            <a:r>
              <a:rPr lang="en-GB" sz="1900" dirty="0"/>
              <a:t>technique starts with the original problem and works its way down to smaller </a:t>
            </a:r>
            <a:r>
              <a:rPr lang="en-GB" sz="1900" dirty="0" err="1"/>
              <a:t>subproblems</a:t>
            </a:r>
            <a:r>
              <a:rPr lang="en-GB" sz="1900" dirty="0"/>
              <a:t>. </a:t>
            </a:r>
            <a:endParaRPr lang="en-GB" sz="1900" dirty="0" smtClean="0"/>
          </a:p>
          <a:p>
            <a:pPr>
              <a:lnSpc>
                <a:spcPct val="150000"/>
              </a:lnSpc>
            </a:pPr>
            <a:r>
              <a:rPr lang="en-GB" sz="1900" dirty="0" smtClean="0"/>
              <a:t>Once </a:t>
            </a:r>
            <a:r>
              <a:rPr lang="en-GB" sz="1900" dirty="0"/>
              <a:t>a </a:t>
            </a:r>
            <a:r>
              <a:rPr lang="en-GB" sz="1900" dirty="0" smtClean="0"/>
              <a:t>subproblem </a:t>
            </a:r>
            <a:r>
              <a:rPr lang="en-GB" sz="1900" dirty="0"/>
              <a:t>is solved, its result is stored to be reused in the future.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900" dirty="0" smtClean="0"/>
          </a:p>
          <a:p>
            <a:pPr>
              <a:lnSpc>
                <a:spcPct val="150000"/>
              </a:lnSpc>
            </a:pPr>
            <a:endParaRPr lang="en-GB" sz="1900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168906" y="2727158"/>
            <a:ext cx="4788105" cy="413084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b="1" dirty="0"/>
              <a:t>Steps in Memoization</a:t>
            </a:r>
            <a:endParaRPr lang="en-GB" sz="20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900" dirty="0" smtClean="0"/>
              <a:t>Start </a:t>
            </a:r>
            <a:r>
              <a:rPr lang="en-GB" sz="1900" dirty="0"/>
              <a:t>with the original problem and solve it recursively.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900" dirty="0"/>
              <a:t>Check if the current subproblem has been solved before (cached).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900" dirty="0"/>
              <a:t>If the result is cached, return it.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900" dirty="0"/>
              <a:t>If not, compute the result, store it in the cache, and return the result.</a:t>
            </a:r>
          </a:p>
        </p:txBody>
      </p:sp>
      <p:sp>
        <p:nvSpPr>
          <p:cNvPr id="9" name="Content Placeholder 9"/>
          <p:cNvSpPr txBox="1">
            <a:spLocks/>
          </p:cNvSpPr>
          <p:nvPr/>
        </p:nvSpPr>
        <p:spPr>
          <a:xfrm>
            <a:off x="5157787" y="2727158"/>
            <a:ext cx="6924548" cy="41308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GB" sz="2000" b="1" dirty="0" smtClean="0"/>
              <a:t>Advantages: </a:t>
            </a:r>
            <a:r>
              <a:rPr lang="en-GB" sz="1900" dirty="0" smtClean="0"/>
              <a:t>Ideal </a:t>
            </a:r>
            <a:r>
              <a:rPr lang="en-GB" sz="1900" dirty="0"/>
              <a:t>for problems with large inputs where only a few </a:t>
            </a:r>
            <a:r>
              <a:rPr lang="en-GB" sz="1900" dirty="0" err="1" smtClean="0"/>
              <a:t>subproblems</a:t>
            </a:r>
            <a:r>
              <a:rPr lang="en-GB" sz="1900" dirty="0" smtClean="0"/>
              <a:t> </a:t>
            </a:r>
            <a:r>
              <a:rPr lang="en-GB" sz="1900" dirty="0"/>
              <a:t>are necessary</a:t>
            </a:r>
            <a:r>
              <a:rPr lang="en-GB" sz="1900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900" dirty="0"/>
              <a:t>Only computes the necessary </a:t>
            </a:r>
            <a:r>
              <a:rPr lang="en-GB" sz="1900" dirty="0" err="1"/>
              <a:t>subproblems</a:t>
            </a:r>
            <a:r>
              <a:rPr lang="en-GB" sz="1900" dirty="0"/>
              <a:t>, leading to potential savings in space and time when only a portion of the DP table is needed</a:t>
            </a:r>
            <a:r>
              <a:rPr lang="en-GB" sz="1900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b="1" dirty="0" smtClean="0"/>
              <a:t>Disadvantages: </a:t>
            </a:r>
            <a:r>
              <a:rPr lang="en-GB" sz="1900" dirty="0" smtClean="0"/>
              <a:t>Recursive </a:t>
            </a:r>
            <a:r>
              <a:rPr lang="en-GB" sz="1900" dirty="0"/>
              <a:t>nature may cause high memory usage (stack space) due to deep recursion.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900" dirty="0"/>
              <a:t>Can be slower due to the overhead of recursive function calls.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GB" sz="1900" dirty="0" smtClean="0"/>
          </a:p>
        </p:txBody>
      </p:sp>
    </p:spTree>
    <p:extLst>
      <p:ext uri="{BB962C8B-B14F-4D97-AF65-F5344CB8AC3E}">
        <p14:creationId xmlns:p14="http://schemas.microsoft.com/office/powerpoint/2010/main" val="338206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866274" y="107978"/>
            <a:ext cx="10796337" cy="500562"/>
          </a:xfrm>
        </p:spPr>
        <p:txBody>
          <a:bodyPr>
            <a:noAutofit/>
          </a:bodyPr>
          <a:lstStyle/>
          <a:p>
            <a:pPr algn="ctr"/>
            <a:r>
              <a:rPr lang="en-GB" sz="3200" dirty="0" smtClean="0">
                <a:solidFill>
                  <a:srgbClr val="FF0000"/>
                </a:solidFill>
              </a:rPr>
              <a:t>Tabulation</a:t>
            </a:r>
            <a:r>
              <a:rPr lang="en-GB" sz="3200" dirty="0" smtClean="0"/>
              <a:t> </a:t>
            </a:r>
            <a:r>
              <a:rPr lang="en-GB" sz="3000" dirty="0" smtClean="0">
                <a:solidFill>
                  <a:srgbClr val="FF0000"/>
                </a:solidFill>
              </a:rPr>
              <a:t>(Down-Up Dynamic Programming)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60422" y="608541"/>
            <a:ext cx="11921914" cy="1509018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1900" dirty="0"/>
              <a:t>Tabulation is an iterative method where the problem is solved by first solving all the smaller </a:t>
            </a:r>
            <a:r>
              <a:rPr lang="en-GB" sz="1900" dirty="0" err="1"/>
              <a:t>subproblems</a:t>
            </a:r>
            <a:r>
              <a:rPr lang="en-GB" sz="1900" dirty="0"/>
              <a:t> and storing their results in a table. </a:t>
            </a:r>
            <a:endParaRPr lang="en-GB" sz="1900" dirty="0" smtClean="0"/>
          </a:p>
          <a:p>
            <a:pPr>
              <a:lnSpc>
                <a:spcPct val="150000"/>
              </a:lnSpc>
            </a:pPr>
            <a:r>
              <a:rPr lang="en-GB" sz="1900" dirty="0" smtClean="0"/>
              <a:t>The </a:t>
            </a:r>
            <a:r>
              <a:rPr lang="en-GB" sz="1900" dirty="0"/>
              <a:t>solution to the original problem is built by using these precomputed results.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900" dirty="0" smtClean="0"/>
          </a:p>
          <a:p>
            <a:pPr>
              <a:lnSpc>
                <a:spcPct val="150000"/>
              </a:lnSpc>
            </a:pPr>
            <a:endParaRPr lang="en-GB" sz="1900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160422" y="2213811"/>
            <a:ext cx="4788105" cy="464418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b="1" dirty="0"/>
              <a:t>Steps in Tabulation</a:t>
            </a:r>
            <a:endParaRPr lang="en-GB" sz="20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900" dirty="0"/>
              <a:t>Start by solving the smallest subproblem.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900" dirty="0"/>
              <a:t>Build a table where each entry corresponds to a subproblem.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900" dirty="0"/>
              <a:t>Use the results of previously solved </a:t>
            </a:r>
            <a:r>
              <a:rPr lang="en-GB" sz="1900" dirty="0" err="1"/>
              <a:t>subproblems</a:t>
            </a:r>
            <a:r>
              <a:rPr lang="en-GB" sz="1900" dirty="0"/>
              <a:t> to solve the larger </a:t>
            </a:r>
            <a:r>
              <a:rPr lang="en-GB" sz="1900" dirty="0" err="1"/>
              <a:t>subproblems</a:t>
            </a:r>
            <a:r>
              <a:rPr lang="en-GB" sz="1900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900" dirty="0"/>
              <a:t>Continue this process until the original problem is solved.</a:t>
            </a:r>
          </a:p>
        </p:txBody>
      </p:sp>
      <p:sp>
        <p:nvSpPr>
          <p:cNvPr id="9" name="Content Placeholder 9"/>
          <p:cNvSpPr txBox="1">
            <a:spLocks/>
          </p:cNvSpPr>
          <p:nvPr/>
        </p:nvSpPr>
        <p:spPr>
          <a:xfrm>
            <a:off x="5157788" y="2213811"/>
            <a:ext cx="6924548" cy="4644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GB" sz="2000" b="1" dirty="0" smtClean="0"/>
              <a:t>Advantages: </a:t>
            </a:r>
          </a:p>
          <a:p>
            <a:pPr>
              <a:lnSpc>
                <a:spcPct val="150000"/>
              </a:lnSpc>
            </a:pPr>
            <a:r>
              <a:rPr lang="en-GB" sz="1900" dirty="0" smtClean="0"/>
              <a:t>Efficient in both time and space, as it avoids recursion.</a:t>
            </a:r>
          </a:p>
          <a:p>
            <a:pPr>
              <a:lnSpc>
                <a:spcPct val="150000"/>
              </a:lnSpc>
            </a:pPr>
            <a:r>
              <a:rPr lang="en-GB" sz="1900" dirty="0" smtClean="0"/>
              <a:t>More intuitive for problems where all </a:t>
            </a:r>
            <a:r>
              <a:rPr lang="en-GB" sz="1900" dirty="0" err="1" smtClean="0"/>
              <a:t>subproblems</a:t>
            </a:r>
            <a:r>
              <a:rPr lang="en-GB" sz="1900" dirty="0" smtClean="0"/>
              <a:t> need to be computed.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b="1" dirty="0" smtClean="0"/>
              <a:t>Disadvantages: </a:t>
            </a:r>
          </a:p>
          <a:p>
            <a:pPr>
              <a:lnSpc>
                <a:spcPct val="150000"/>
              </a:lnSpc>
            </a:pPr>
            <a:r>
              <a:rPr lang="en-GB" sz="1900" dirty="0" smtClean="0"/>
              <a:t>Requires </a:t>
            </a:r>
            <a:r>
              <a:rPr lang="en-GB" sz="1900" dirty="0"/>
              <a:t>solving all </a:t>
            </a:r>
            <a:r>
              <a:rPr lang="en-GB" sz="1900" dirty="0" err="1"/>
              <a:t>subproblems</a:t>
            </a:r>
            <a:r>
              <a:rPr lang="en-GB" sz="1900" dirty="0"/>
              <a:t>, even those that may not be necessary</a:t>
            </a:r>
            <a:r>
              <a:rPr lang="en-GB" sz="19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GB" sz="1900" dirty="0"/>
              <a:t>Larger memory footprint for storing the table, even if some entries are unused.</a:t>
            </a:r>
            <a:endParaRPr lang="en-GB" sz="1900" dirty="0" smtClean="0"/>
          </a:p>
        </p:txBody>
      </p:sp>
    </p:spTree>
    <p:extLst>
      <p:ext uri="{BB962C8B-B14F-4D97-AF65-F5344CB8AC3E}">
        <p14:creationId xmlns:p14="http://schemas.microsoft.com/office/powerpoint/2010/main" val="135689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866274" y="107978"/>
            <a:ext cx="10796337" cy="500562"/>
          </a:xfrm>
        </p:spPr>
        <p:txBody>
          <a:bodyPr>
            <a:noAutofit/>
          </a:bodyPr>
          <a:lstStyle/>
          <a:p>
            <a:pPr algn="ctr"/>
            <a:r>
              <a:rPr lang="en-GB" sz="3000" dirty="0" smtClean="0">
                <a:solidFill>
                  <a:srgbClr val="FF0000"/>
                </a:solidFill>
              </a:rPr>
              <a:t>Approaches Comparison and DP Applications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12296" y="3473205"/>
            <a:ext cx="11923178" cy="338479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b="1" dirty="0" smtClean="0">
                <a:solidFill>
                  <a:srgbClr val="FF0000"/>
                </a:solidFill>
              </a:rPr>
              <a:t>Example Applications</a:t>
            </a:r>
            <a:endParaRPr lang="en-GB" sz="2200" b="1" dirty="0" smtClean="0">
              <a:solidFill>
                <a:srgbClr val="FF0000"/>
              </a:solidFill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GB" sz="1900" dirty="0" smtClean="0"/>
              <a:t>Fibonacci </a:t>
            </a:r>
            <a:r>
              <a:rPr lang="en-GB" sz="1900" dirty="0"/>
              <a:t>Numbers: A sequence where each number is the sum of the two preceding ones, starting with 0 and 1</a:t>
            </a:r>
            <a:r>
              <a:rPr lang="en-GB" sz="1900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900" dirty="0"/>
              <a:t>0/1 Knapsack Problem: Given items with specific weights and values, the goal is to maximize the total value without exceeding a weight limit</a:t>
            </a:r>
            <a:r>
              <a:rPr lang="en-GB" sz="1900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900" dirty="0"/>
              <a:t>Longest Common Subsequence (LCS</a:t>
            </a:r>
            <a:r>
              <a:rPr lang="en-GB" sz="1900" dirty="0" smtClean="0"/>
              <a:t>): Finds </a:t>
            </a:r>
            <a:r>
              <a:rPr lang="en-GB" sz="1900" dirty="0"/>
              <a:t>the longest sequence common to two strings</a:t>
            </a:r>
            <a:r>
              <a:rPr lang="en-GB" sz="1900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1900" dirty="0"/>
              <a:t>Travelling Salesman Problem (TSP): Finds the shortest route that visits all cities exactly once and returns to the starting point.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9354"/>
            <a:ext cx="12035473" cy="291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6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9775" y="44444"/>
            <a:ext cx="10515600" cy="913137"/>
          </a:xfrm>
        </p:spPr>
        <p:txBody>
          <a:bodyPr>
            <a:normAutofit/>
          </a:bodyPr>
          <a:lstStyle/>
          <a:p>
            <a:pPr algn="ctr"/>
            <a:r>
              <a:rPr lang="en-GB" dirty="0" smtClean="0">
                <a:solidFill>
                  <a:srgbClr val="FF0000"/>
                </a:solidFill>
                <a:latin typeface="+mn-lt"/>
              </a:rPr>
              <a:t>Approaches Syntax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957581"/>
            <a:ext cx="12170552" cy="551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63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9787" y="25086"/>
            <a:ext cx="10515600" cy="1001609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+mn-lt"/>
              </a:rPr>
              <a:t>Object-Oriented Programming (OOP)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0" y="776413"/>
            <a:ext cx="5157787" cy="500563"/>
          </a:xfrm>
        </p:spPr>
        <p:txBody>
          <a:bodyPr/>
          <a:lstStyle/>
          <a:p>
            <a:pPr algn="ctr"/>
            <a:r>
              <a:rPr lang="en-GB" dirty="0" smtClean="0"/>
              <a:t>Overview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60421" y="1276976"/>
            <a:ext cx="5502442" cy="5581023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sz="2000" dirty="0" smtClean="0"/>
              <a:t>A </a:t>
            </a:r>
            <a:r>
              <a:rPr lang="en-GB" sz="2000" dirty="0"/>
              <a:t>programming paradigm based on the concept of “objects,” which can contain </a:t>
            </a:r>
            <a:r>
              <a:rPr lang="en-GB" sz="2000" b="1" dirty="0"/>
              <a:t>data in the form of fields (attributes or properties)</a:t>
            </a:r>
            <a:r>
              <a:rPr lang="en-GB" sz="2000" dirty="0"/>
              <a:t> and </a:t>
            </a:r>
            <a:r>
              <a:rPr lang="en-GB" sz="2000" b="1" dirty="0"/>
              <a:t>code in the form of procedures (methods or functions)</a:t>
            </a:r>
            <a:r>
              <a:rPr lang="en-GB" sz="2000" dirty="0"/>
              <a:t>.</a:t>
            </a:r>
          </a:p>
          <a:p>
            <a:pPr>
              <a:lnSpc>
                <a:spcPct val="160000"/>
              </a:lnSpc>
            </a:pPr>
            <a:r>
              <a:rPr lang="en-GB" sz="2000" dirty="0" smtClean="0"/>
              <a:t>Provides a </a:t>
            </a:r>
            <a:r>
              <a:rPr lang="en-GB" sz="2000" dirty="0"/>
              <a:t>framework for structuring code in a way that enhances </a:t>
            </a:r>
            <a:r>
              <a:rPr lang="en-GB" sz="2000" b="1" dirty="0">
                <a:solidFill>
                  <a:srgbClr val="FF0000"/>
                </a:solidFill>
              </a:rPr>
              <a:t>reusability</a:t>
            </a:r>
            <a:r>
              <a:rPr lang="en-GB" sz="2000" dirty="0"/>
              <a:t>, </a:t>
            </a:r>
            <a:r>
              <a:rPr lang="en-GB" sz="2000" b="1" dirty="0">
                <a:solidFill>
                  <a:srgbClr val="FF0000"/>
                </a:solidFill>
              </a:rPr>
              <a:t>scalability</a:t>
            </a:r>
            <a:r>
              <a:rPr lang="en-GB" sz="2000" dirty="0"/>
              <a:t>, and </a:t>
            </a:r>
            <a:r>
              <a:rPr lang="en-GB" sz="2000" b="1" dirty="0">
                <a:solidFill>
                  <a:srgbClr val="FF0000"/>
                </a:solidFill>
              </a:rPr>
              <a:t>clarity</a:t>
            </a:r>
            <a:r>
              <a:rPr lang="en-GB" sz="2000" dirty="0" smtClean="0"/>
              <a:t>.</a:t>
            </a:r>
          </a:p>
          <a:p>
            <a:pPr>
              <a:lnSpc>
                <a:spcPct val="160000"/>
              </a:lnSpc>
            </a:pPr>
            <a:r>
              <a:rPr lang="en-GB" sz="2000" dirty="0" smtClean="0"/>
              <a:t>Allows </a:t>
            </a:r>
            <a:r>
              <a:rPr lang="en-GB" sz="2000" dirty="0"/>
              <a:t>programmers to structure software as a collection of objects that model real-world entities and their </a:t>
            </a:r>
            <a:r>
              <a:rPr lang="en-GB" sz="2000" dirty="0" smtClean="0"/>
              <a:t>interactions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"/>
          </p:nvPr>
        </p:nvSpPr>
        <p:spPr>
          <a:xfrm>
            <a:off x="6450495" y="744328"/>
            <a:ext cx="5183188" cy="532648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Key Concepts</a:t>
            </a:r>
            <a:endParaRPr lang="en-GB" dirty="0"/>
          </a:p>
        </p:txBody>
      </p:sp>
      <p:sp>
        <p:nvSpPr>
          <p:cNvPr id="11" name="Content Placeholder 9"/>
          <p:cNvSpPr txBox="1">
            <a:spLocks/>
          </p:cNvSpPr>
          <p:nvPr/>
        </p:nvSpPr>
        <p:spPr>
          <a:xfrm>
            <a:off x="5823283" y="1307433"/>
            <a:ext cx="6368717" cy="55505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en-GB" sz="2000" b="1" dirty="0"/>
              <a:t>Classes and Objects</a:t>
            </a:r>
            <a:r>
              <a:rPr lang="en-GB" sz="2000" dirty="0"/>
              <a:t>: Classes are templates, and objects are </a:t>
            </a:r>
            <a:r>
              <a:rPr lang="en-GB" sz="2000" dirty="0" smtClean="0"/>
              <a:t>instances.</a:t>
            </a:r>
          </a:p>
          <a:p>
            <a:pPr>
              <a:lnSpc>
                <a:spcPct val="114000"/>
              </a:lnSpc>
            </a:pPr>
            <a:r>
              <a:rPr lang="en-GB" sz="2000" b="1" dirty="0"/>
              <a:t>Encapsulation</a:t>
            </a:r>
            <a:r>
              <a:rPr lang="en-GB" sz="2000" dirty="0"/>
              <a:t>: Data and methods are bundled in classes; access is controlled</a:t>
            </a:r>
            <a:r>
              <a:rPr lang="en-GB" sz="2000" dirty="0" smtClean="0"/>
              <a:t>.</a:t>
            </a:r>
          </a:p>
          <a:p>
            <a:pPr>
              <a:lnSpc>
                <a:spcPct val="114000"/>
              </a:lnSpc>
            </a:pPr>
            <a:r>
              <a:rPr lang="en-GB" sz="2000" b="1" dirty="0"/>
              <a:t>Inheritance</a:t>
            </a:r>
            <a:r>
              <a:rPr lang="en-GB" sz="2000" dirty="0"/>
              <a:t>: Classes can inherit properties and methods from other classes</a:t>
            </a:r>
            <a:r>
              <a:rPr lang="en-GB" sz="2000" dirty="0" smtClean="0"/>
              <a:t>.</a:t>
            </a:r>
          </a:p>
          <a:p>
            <a:pPr>
              <a:lnSpc>
                <a:spcPct val="114000"/>
              </a:lnSpc>
            </a:pPr>
            <a:r>
              <a:rPr lang="en-GB" sz="2000" b="1" dirty="0"/>
              <a:t>Polymorphism</a:t>
            </a:r>
            <a:r>
              <a:rPr lang="en-GB" sz="2000" dirty="0"/>
              <a:t>: Methods can be overridden in subclasses to provide specialized </a:t>
            </a:r>
            <a:r>
              <a:rPr lang="en-GB" sz="2000" dirty="0" err="1"/>
              <a:t>behavior</a:t>
            </a:r>
            <a:r>
              <a:rPr lang="en-GB" sz="2000" dirty="0" smtClean="0"/>
              <a:t>.</a:t>
            </a:r>
          </a:p>
          <a:p>
            <a:pPr>
              <a:lnSpc>
                <a:spcPct val="114000"/>
              </a:lnSpc>
            </a:pPr>
            <a:r>
              <a:rPr lang="en-GB" sz="2000" b="1" dirty="0"/>
              <a:t>Abstraction</a:t>
            </a:r>
            <a:r>
              <a:rPr lang="en-GB" sz="2000" dirty="0"/>
              <a:t>: Abstract classes define interfaces for subclasses without implementing methods</a:t>
            </a:r>
            <a:r>
              <a:rPr lang="en-GB" sz="2000" dirty="0" smtClean="0"/>
              <a:t>.</a:t>
            </a:r>
          </a:p>
          <a:p>
            <a:pPr>
              <a:lnSpc>
                <a:spcPct val="114000"/>
              </a:lnSpc>
            </a:pPr>
            <a:r>
              <a:rPr lang="en-GB" sz="2000" b="1" dirty="0"/>
              <a:t>Handle vs. Value Classes</a:t>
            </a:r>
            <a:r>
              <a:rPr lang="en-GB" sz="2000" dirty="0"/>
              <a:t>: Handle classes are passed by reference, while value classes are passed by value</a:t>
            </a:r>
          </a:p>
        </p:txBody>
      </p:sp>
    </p:spTree>
    <p:extLst>
      <p:ext uri="{BB962C8B-B14F-4D97-AF65-F5344CB8AC3E}">
        <p14:creationId xmlns:p14="http://schemas.microsoft.com/office/powerpoint/2010/main" val="367497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866274" y="107978"/>
            <a:ext cx="10796337" cy="500562"/>
          </a:xfrm>
        </p:spPr>
        <p:txBody>
          <a:bodyPr>
            <a:noAutofit/>
          </a:bodyPr>
          <a:lstStyle/>
          <a:p>
            <a:pPr algn="ctr"/>
            <a:r>
              <a:rPr lang="en-GB" sz="3200" dirty="0" smtClean="0">
                <a:solidFill>
                  <a:srgbClr val="FF0000"/>
                </a:solidFill>
              </a:rPr>
              <a:t>Classes and Objects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6146" y="608540"/>
            <a:ext cx="5609700" cy="373887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sz="2000" b="1" dirty="0"/>
              <a:t>Class</a:t>
            </a:r>
            <a:r>
              <a:rPr lang="en-GB" sz="2000" dirty="0"/>
              <a:t>: A blueprint for creating objects. It defines a data structure by specifying the attributes (data) and </a:t>
            </a:r>
            <a:r>
              <a:rPr lang="en-GB" sz="2000" dirty="0" err="1"/>
              <a:t>behaviors</a:t>
            </a:r>
            <a:r>
              <a:rPr lang="en-GB" sz="2000" dirty="0"/>
              <a:t> (methods) that the object will have</a:t>
            </a:r>
            <a:r>
              <a:rPr lang="en-GB" sz="2000" dirty="0" smtClean="0"/>
              <a:t>. They are defined with </a:t>
            </a:r>
            <a:r>
              <a:rPr lang="en-GB" sz="2000" b="1" dirty="0" err="1" smtClean="0"/>
              <a:t>classdef</a:t>
            </a:r>
            <a:r>
              <a:rPr lang="en-GB" sz="2000" dirty="0" smtClean="0"/>
              <a:t> and saved as .m files</a:t>
            </a:r>
            <a:endParaRPr lang="en-GB" sz="1900" dirty="0" smtClean="0"/>
          </a:p>
          <a:p>
            <a:pPr algn="just">
              <a:lnSpc>
                <a:spcPct val="150000"/>
              </a:lnSpc>
            </a:pPr>
            <a:r>
              <a:rPr lang="en-GB" sz="2000" b="1" dirty="0"/>
              <a:t>Object</a:t>
            </a:r>
            <a:r>
              <a:rPr lang="en-GB" sz="2000" dirty="0"/>
              <a:t>: An instance of a class. An object is a real entity with properties and </a:t>
            </a:r>
            <a:r>
              <a:rPr lang="en-GB" sz="2000" dirty="0" err="1"/>
              <a:t>behaviors</a:t>
            </a:r>
            <a:r>
              <a:rPr lang="en-GB" sz="2000" dirty="0"/>
              <a:t> defined by its class</a:t>
            </a:r>
            <a:r>
              <a:rPr lang="en-GB" sz="2000" dirty="0" smtClean="0"/>
              <a:t>.</a:t>
            </a:r>
            <a:endParaRPr lang="en-GB" sz="19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5" y="4347411"/>
            <a:ext cx="3990455" cy="187674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846" y="608537"/>
            <a:ext cx="6526154" cy="624946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0996" y="6224159"/>
            <a:ext cx="2421840" cy="633841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>
          <a:xfrm flipH="1">
            <a:off x="4046600" y="5165558"/>
            <a:ext cx="161924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56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866274" y="107978"/>
            <a:ext cx="10796337" cy="500562"/>
          </a:xfrm>
        </p:spPr>
        <p:txBody>
          <a:bodyPr>
            <a:noAutofit/>
          </a:bodyPr>
          <a:lstStyle/>
          <a:p>
            <a:pPr algn="ctr"/>
            <a:r>
              <a:rPr lang="en-GB" sz="3200" dirty="0">
                <a:solidFill>
                  <a:srgbClr val="FF0000"/>
                </a:solidFill>
              </a:rPr>
              <a:t>Encapsulation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6146" y="608542"/>
            <a:ext cx="7127052" cy="436451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sz="1700" dirty="0" smtClean="0"/>
              <a:t>Bundling </a:t>
            </a:r>
            <a:r>
              <a:rPr lang="en-GB" sz="1700" dirty="0"/>
              <a:t>of data (attributes) and methods that operate on the data into a single unit, or class. </a:t>
            </a:r>
            <a:endParaRPr lang="en-GB" sz="1700" dirty="0" smtClean="0"/>
          </a:p>
          <a:p>
            <a:pPr algn="just">
              <a:lnSpc>
                <a:spcPct val="150000"/>
              </a:lnSpc>
            </a:pPr>
            <a:r>
              <a:rPr lang="en-GB" sz="1700" dirty="0" smtClean="0"/>
              <a:t>It </a:t>
            </a:r>
            <a:r>
              <a:rPr lang="en-GB" sz="1700" dirty="0"/>
              <a:t>restricts access to the inner workings of the object and only exposes selected methods to interact with the object. </a:t>
            </a:r>
            <a:endParaRPr lang="en-GB" sz="1700" dirty="0" smtClean="0"/>
          </a:p>
          <a:p>
            <a:pPr algn="just">
              <a:lnSpc>
                <a:spcPct val="150000"/>
              </a:lnSpc>
            </a:pPr>
            <a:r>
              <a:rPr lang="en-GB" sz="1700" dirty="0" smtClean="0"/>
              <a:t>This </a:t>
            </a:r>
            <a:r>
              <a:rPr lang="en-GB" sz="1700" dirty="0"/>
              <a:t>promotes </a:t>
            </a:r>
            <a:r>
              <a:rPr lang="en-GB" sz="1700" b="1" dirty="0"/>
              <a:t>data hiding</a:t>
            </a:r>
            <a:r>
              <a:rPr lang="en-GB" sz="1700" dirty="0"/>
              <a:t> and prevents unauthorized access</a:t>
            </a:r>
            <a:r>
              <a:rPr lang="en-GB" sz="1700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700" b="1" dirty="0"/>
              <a:t>Access </a:t>
            </a:r>
            <a:r>
              <a:rPr lang="en-GB" sz="1700" b="1" dirty="0" smtClean="0"/>
              <a:t>Modifiers for </a:t>
            </a:r>
            <a:r>
              <a:rPr lang="en-GB" sz="1700" b="1" dirty="0"/>
              <a:t>Properties or methods</a:t>
            </a:r>
            <a:r>
              <a:rPr lang="en-GB" sz="1700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700" b="1" dirty="0"/>
              <a:t>Public</a:t>
            </a:r>
            <a:r>
              <a:rPr lang="en-GB" sz="1700" dirty="0"/>
              <a:t>: Accessible from anywhere.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700" b="1" dirty="0"/>
              <a:t>Private</a:t>
            </a:r>
            <a:r>
              <a:rPr lang="en-GB" sz="1700" dirty="0"/>
              <a:t>: Accessible only within the class.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700" b="1" dirty="0"/>
              <a:t>Protected</a:t>
            </a:r>
            <a:r>
              <a:rPr lang="en-GB" sz="1700" dirty="0"/>
              <a:t>: Accessible within the class and its subclasses.</a:t>
            </a:r>
          </a:p>
          <a:p>
            <a:pPr algn="just">
              <a:lnSpc>
                <a:spcPct val="150000"/>
              </a:lnSpc>
            </a:pPr>
            <a:endParaRPr lang="en-GB" sz="17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198" y="588001"/>
            <a:ext cx="4862423" cy="62494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418" y="4973054"/>
            <a:ext cx="4026930" cy="1884946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>
          <a:xfrm flipH="1">
            <a:off x="6558778" y="5955540"/>
            <a:ext cx="75539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630580"/>
            <a:ext cx="2615906" cy="569894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>
            <a:off x="2600702" y="5955540"/>
            <a:ext cx="26475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872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866275" y="107978"/>
            <a:ext cx="4652210" cy="500564"/>
          </a:xfrm>
        </p:spPr>
        <p:txBody>
          <a:bodyPr>
            <a:noAutofit/>
          </a:bodyPr>
          <a:lstStyle/>
          <a:p>
            <a:pPr algn="ctr"/>
            <a:r>
              <a:rPr lang="en-GB" sz="3200" dirty="0">
                <a:solidFill>
                  <a:srgbClr val="FF0000"/>
                </a:solidFill>
              </a:rPr>
              <a:t>Inheritance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6146" y="608542"/>
            <a:ext cx="6871600" cy="624945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sz="1800" dirty="0" smtClean="0"/>
              <a:t>A </a:t>
            </a:r>
            <a:r>
              <a:rPr lang="en-GB" sz="1800" dirty="0"/>
              <a:t>mechanism by which one class (child or subclass) inherits properties and methods from another class (parent or superclass). </a:t>
            </a:r>
            <a:endParaRPr lang="en-GB" sz="1800" dirty="0" smtClean="0"/>
          </a:p>
          <a:p>
            <a:pPr algn="just">
              <a:lnSpc>
                <a:spcPct val="150000"/>
              </a:lnSpc>
            </a:pPr>
            <a:r>
              <a:rPr lang="en-GB" sz="1800" dirty="0" smtClean="0"/>
              <a:t>This </a:t>
            </a:r>
            <a:r>
              <a:rPr lang="en-GB" sz="1800" dirty="0"/>
              <a:t>promotes code reuse and establishes a hierarchical relationship between classes</a:t>
            </a:r>
            <a:r>
              <a:rPr lang="en-GB" sz="1800" dirty="0" smtClean="0"/>
              <a:t>..</a:t>
            </a:r>
          </a:p>
          <a:p>
            <a:pPr marL="0" indent="0">
              <a:buNone/>
            </a:pPr>
            <a:r>
              <a:rPr lang="en-GB" sz="1800" b="1" dirty="0"/>
              <a:t>Types of Inheritance</a:t>
            </a:r>
            <a:r>
              <a:rPr lang="en-GB" sz="1800" dirty="0"/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b="1" dirty="0"/>
              <a:t>Single Inheritance</a:t>
            </a:r>
            <a:r>
              <a:rPr lang="en-GB" sz="1800" dirty="0"/>
              <a:t>: A class inherits from one superclass.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b="1" dirty="0"/>
              <a:t>Multiple Inheritance</a:t>
            </a:r>
            <a:r>
              <a:rPr lang="en-GB" sz="1800" dirty="0"/>
              <a:t>: A class inherits from more than one superclass.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b="1" dirty="0"/>
              <a:t>Multilevel Inheritance</a:t>
            </a:r>
            <a:r>
              <a:rPr lang="en-GB" sz="1800" dirty="0"/>
              <a:t>: A class inherits from a class, which is itself a subclass.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b="1" dirty="0"/>
              <a:t>Hierarchical Inheritance</a:t>
            </a:r>
            <a:r>
              <a:rPr lang="en-GB" sz="1800" dirty="0"/>
              <a:t>: Multiple subclasses inherit from the same superclass.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b="1" dirty="0"/>
              <a:t>Hybrid Inheritance</a:t>
            </a:r>
            <a:r>
              <a:rPr lang="en-GB" sz="1800" dirty="0"/>
              <a:t>: A combination of two or more types of inheritance.</a:t>
            </a:r>
          </a:p>
          <a:p>
            <a:pPr algn="just">
              <a:lnSpc>
                <a:spcPct val="150000"/>
              </a:lnSpc>
            </a:pPr>
            <a:endParaRPr lang="en-GB" sz="1800" dirty="0"/>
          </a:p>
          <a:p>
            <a:pPr algn="just">
              <a:lnSpc>
                <a:spcPct val="150000"/>
              </a:lnSpc>
            </a:pPr>
            <a:endParaRPr lang="en-GB" sz="1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746" y="0"/>
            <a:ext cx="3882419" cy="356486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433" y="2991894"/>
            <a:ext cx="4387993" cy="19464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746" y="4848579"/>
            <a:ext cx="4079735" cy="200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18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882" y="5171032"/>
            <a:ext cx="4355615" cy="1686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746" y="0"/>
            <a:ext cx="4621131" cy="3942662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866275" y="107978"/>
            <a:ext cx="4652210" cy="500564"/>
          </a:xfrm>
        </p:spPr>
        <p:txBody>
          <a:bodyPr>
            <a:noAutofit/>
          </a:bodyPr>
          <a:lstStyle/>
          <a:p>
            <a:pPr algn="ctr"/>
            <a:r>
              <a:rPr lang="en-GB" sz="3200" dirty="0">
                <a:solidFill>
                  <a:srgbClr val="FF0000"/>
                </a:solidFill>
              </a:rPr>
              <a:t>Polymorphism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6146" y="608542"/>
            <a:ext cx="6871600" cy="624945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sz="1900" dirty="0" smtClean="0"/>
              <a:t>The </a:t>
            </a:r>
            <a:r>
              <a:rPr lang="en-GB" sz="1900" dirty="0"/>
              <a:t>ability to define a method in the child class that has the same name as a method in the parent class but behaves differently</a:t>
            </a:r>
            <a:r>
              <a:rPr lang="en-GB" sz="19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GB" sz="1900" dirty="0" smtClean="0"/>
              <a:t>Allows </a:t>
            </a:r>
            <a:r>
              <a:rPr lang="en-GB" sz="1900" dirty="0"/>
              <a:t>methods to be defined in multiple forms</a:t>
            </a:r>
            <a:r>
              <a:rPr lang="en-GB" sz="19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GB" sz="1900" dirty="0" smtClean="0"/>
              <a:t>Inherited methods from </a:t>
            </a:r>
            <a:r>
              <a:rPr lang="en-GB" sz="1900" dirty="0"/>
              <a:t>parent </a:t>
            </a:r>
            <a:r>
              <a:rPr lang="en-GB" sz="1900" dirty="0" smtClean="0"/>
              <a:t>classes can be </a:t>
            </a:r>
            <a:r>
              <a:rPr lang="en-GB" sz="1900" b="1" dirty="0" smtClean="0">
                <a:solidFill>
                  <a:srgbClr val="FF0000"/>
                </a:solidFill>
              </a:rPr>
              <a:t>overridden</a:t>
            </a:r>
            <a:r>
              <a:rPr lang="en-GB" sz="1900" dirty="0" smtClean="0"/>
              <a:t> or </a:t>
            </a:r>
            <a:r>
              <a:rPr lang="en-GB" sz="1900" b="1" dirty="0" smtClean="0">
                <a:solidFill>
                  <a:srgbClr val="FF0000"/>
                </a:solidFill>
              </a:rPr>
              <a:t>overloaded</a:t>
            </a:r>
            <a:r>
              <a:rPr lang="en-GB" sz="1900" dirty="0" smtClean="0"/>
              <a:t> to provide </a:t>
            </a:r>
            <a:r>
              <a:rPr lang="en-GB" sz="1900" dirty="0"/>
              <a:t>specific implementations in child classes. </a:t>
            </a:r>
            <a:endParaRPr lang="en-GB" sz="19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GB" sz="1900" b="1" dirty="0"/>
              <a:t>Polymorphism can be achieved through:</a:t>
            </a:r>
          </a:p>
          <a:p>
            <a:pPr>
              <a:lnSpc>
                <a:spcPct val="150000"/>
              </a:lnSpc>
            </a:pPr>
            <a:r>
              <a:rPr lang="en-GB" sz="1900" b="1" dirty="0"/>
              <a:t>Method Overloading</a:t>
            </a:r>
            <a:r>
              <a:rPr lang="en-GB" sz="1900" dirty="0"/>
              <a:t>: Same method name but different </a:t>
            </a:r>
            <a:r>
              <a:rPr lang="en-GB" sz="1900" dirty="0" smtClean="0"/>
              <a:t>parameters</a:t>
            </a:r>
            <a:endParaRPr lang="en-GB" sz="1900" dirty="0"/>
          </a:p>
          <a:p>
            <a:pPr>
              <a:lnSpc>
                <a:spcPct val="150000"/>
              </a:lnSpc>
            </a:pPr>
            <a:r>
              <a:rPr lang="en-GB" sz="1900" b="1" dirty="0"/>
              <a:t>Method Overriding</a:t>
            </a:r>
            <a:r>
              <a:rPr lang="en-GB" sz="1900" dirty="0"/>
              <a:t>: A child class provides a specific implementation of a method that is already defined in the parent class</a:t>
            </a:r>
            <a:r>
              <a:rPr lang="en-GB" sz="1900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 smtClean="0"/>
              <a:t>In the example the </a:t>
            </a:r>
            <a:r>
              <a:rPr lang="en-US" sz="1900" b="1" dirty="0" smtClean="0"/>
              <a:t>sound </a:t>
            </a:r>
            <a:r>
              <a:rPr lang="en-US" sz="1900" dirty="0" smtClean="0"/>
              <a:t>method is overridden in the </a:t>
            </a:r>
            <a:r>
              <a:rPr lang="en-US" sz="1900" b="1" dirty="0" smtClean="0"/>
              <a:t>Dog</a:t>
            </a:r>
            <a:r>
              <a:rPr lang="en-US" sz="1900" dirty="0" smtClean="0"/>
              <a:t> Class</a:t>
            </a:r>
            <a:endParaRPr lang="en-GB" sz="1900" dirty="0" smtClean="0"/>
          </a:p>
          <a:p>
            <a:pPr algn="just">
              <a:lnSpc>
                <a:spcPct val="150000"/>
              </a:lnSpc>
            </a:pPr>
            <a:endParaRPr lang="en-GB" sz="19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621" y="3130148"/>
            <a:ext cx="4265697" cy="214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98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0" y="107977"/>
            <a:ext cx="4001911" cy="510795"/>
          </a:xfrm>
        </p:spPr>
        <p:txBody>
          <a:bodyPr>
            <a:noAutofit/>
          </a:bodyPr>
          <a:lstStyle/>
          <a:p>
            <a:pPr algn="ctr"/>
            <a:r>
              <a:rPr lang="en-GB" sz="3200" dirty="0" smtClean="0">
                <a:solidFill>
                  <a:srgbClr val="FF0000"/>
                </a:solidFill>
              </a:rPr>
              <a:t>Abstraction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0" y="618773"/>
            <a:ext cx="4001911" cy="624945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1900" dirty="0" smtClean="0"/>
              <a:t>Hides </a:t>
            </a:r>
            <a:r>
              <a:rPr lang="en-GB" sz="1900" dirty="0"/>
              <a:t>the complexity of implementation details and exposing only the essential features of a class. </a:t>
            </a:r>
            <a:endParaRPr lang="en-GB" sz="1900" dirty="0" smtClean="0"/>
          </a:p>
          <a:p>
            <a:pPr>
              <a:lnSpc>
                <a:spcPct val="150000"/>
              </a:lnSpc>
            </a:pPr>
            <a:r>
              <a:rPr lang="en-GB" sz="1900" dirty="0" smtClean="0"/>
              <a:t>Achieved </a:t>
            </a:r>
            <a:r>
              <a:rPr lang="en-GB" sz="1900" dirty="0"/>
              <a:t>by using </a:t>
            </a:r>
            <a:r>
              <a:rPr lang="en-GB" sz="1900" b="1" dirty="0"/>
              <a:t>abstract classes</a:t>
            </a:r>
            <a:r>
              <a:rPr lang="en-GB" sz="1900" dirty="0"/>
              <a:t> and </a:t>
            </a:r>
            <a:r>
              <a:rPr lang="en-GB" sz="1900" b="1" dirty="0" smtClean="0"/>
              <a:t>interfaces (methods)</a:t>
            </a:r>
            <a:endParaRPr lang="en-GB" sz="1900" dirty="0"/>
          </a:p>
          <a:p>
            <a:pPr>
              <a:lnSpc>
                <a:spcPct val="150000"/>
              </a:lnSpc>
            </a:pPr>
            <a:r>
              <a:rPr lang="en-GB" sz="1900" dirty="0"/>
              <a:t>U</a:t>
            </a:r>
            <a:r>
              <a:rPr lang="en-GB" sz="1900" dirty="0" smtClean="0"/>
              <a:t>sed </a:t>
            </a:r>
            <a:r>
              <a:rPr lang="en-GB" sz="1900" dirty="0"/>
              <a:t>to define a common </a:t>
            </a:r>
            <a:r>
              <a:rPr lang="en-GB" sz="1900" dirty="0" smtClean="0"/>
              <a:t>interface or methods </a:t>
            </a:r>
            <a:r>
              <a:rPr lang="en-GB" sz="1900" dirty="0"/>
              <a:t>for subclasses without implementing specific functionality. </a:t>
            </a:r>
            <a:endParaRPr lang="en-GB" sz="1900" dirty="0" smtClean="0"/>
          </a:p>
          <a:p>
            <a:pPr>
              <a:lnSpc>
                <a:spcPct val="150000"/>
              </a:lnSpc>
            </a:pPr>
            <a:r>
              <a:rPr lang="en-GB" sz="1900" dirty="0"/>
              <a:t>An </a:t>
            </a:r>
            <a:r>
              <a:rPr lang="en-GB" sz="1900" b="1" dirty="0"/>
              <a:t>abstract class</a:t>
            </a:r>
            <a:r>
              <a:rPr lang="en-GB" sz="1900" dirty="0"/>
              <a:t> is a class that cannot be instantiated directly</a:t>
            </a:r>
          </a:p>
          <a:p>
            <a:pPr>
              <a:lnSpc>
                <a:spcPct val="150000"/>
              </a:lnSpc>
            </a:pPr>
            <a:r>
              <a:rPr lang="en-GB" sz="1900" dirty="0" smtClean="0"/>
              <a:t>Abstract </a:t>
            </a:r>
            <a:r>
              <a:rPr lang="en-GB" sz="1900" dirty="0"/>
              <a:t>methods in these classes must be implemented by </a:t>
            </a:r>
            <a:r>
              <a:rPr lang="en-GB" sz="1900" dirty="0" smtClean="0"/>
              <a:t>subclasses.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900" dirty="0" smtClean="0"/>
          </a:p>
          <a:p>
            <a:pPr>
              <a:lnSpc>
                <a:spcPct val="150000"/>
              </a:lnSpc>
            </a:pPr>
            <a:endParaRPr lang="en-GB" sz="19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911" y="0"/>
            <a:ext cx="5436162" cy="27601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576" y="4554690"/>
            <a:ext cx="3890094" cy="84456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911" y="2647124"/>
            <a:ext cx="4295525" cy="42736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9187" y="2921489"/>
            <a:ext cx="5460150" cy="95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844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836" y="3404558"/>
            <a:ext cx="5541164" cy="3453442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56575" y="112671"/>
            <a:ext cx="4452165" cy="495871"/>
          </a:xfrm>
        </p:spPr>
        <p:txBody>
          <a:bodyPr>
            <a:noAutofit/>
          </a:bodyPr>
          <a:lstStyle/>
          <a:p>
            <a:pPr algn="ctr"/>
            <a:r>
              <a:rPr lang="en-GB" sz="3200" dirty="0" smtClean="0">
                <a:solidFill>
                  <a:srgbClr val="FF0000"/>
                </a:solidFill>
              </a:rPr>
              <a:t>Handle vs. Value Classes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6146" y="608542"/>
            <a:ext cx="5280728" cy="624945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sz="2000" b="1" dirty="0"/>
              <a:t>Value Classes</a:t>
            </a:r>
            <a:r>
              <a:rPr lang="en-GB" sz="2000" dirty="0"/>
              <a:t>: Objects of value classes behave like standard variables (they are copied when passed</a:t>
            </a:r>
            <a:r>
              <a:rPr lang="en-GB" sz="2000" dirty="0" smtClean="0"/>
              <a:t>).</a:t>
            </a:r>
          </a:p>
          <a:p>
            <a:pPr algn="just">
              <a:lnSpc>
                <a:spcPct val="150000"/>
              </a:lnSpc>
            </a:pPr>
            <a:r>
              <a:rPr lang="en-GB" sz="2000" b="1" dirty="0"/>
              <a:t>Handle Classes</a:t>
            </a:r>
            <a:r>
              <a:rPr lang="en-GB" sz="2000" dirty="0"/>
              <a:t>: Objects of handle classes are passed by reference, allowing changes to the </a:t>
            </a:r>
            <a:r>
              <a:rPr lang="en-GB" sz="2000" dirty="0" smtClean="0"/>
              <a:t>object within a function </a:t>
            </a:r>
            <a:r>
              <a:rPr lang="en-GB" sz="2000" dirty="0"/>
              <a:t>to persist outside of the function</a:t>
            </a:r>
            <a:r>
              <a:rPr lang="en-GB" sz="20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GB" sz="2000" dirty="0"/>
              <a:t>Handle classes are passed by reference, while value classes are passed by value.</a:t>
            </a:r>
            <a:endParaRPr lang="en-GB" sz="2000" dirty="0" smtClean="0"/>
          </a:p>
          <a:p>
            <a:pPr algn="just">
              <a:lnSpc>
                <a:spcPct val="150000"/>
              </a:lnSpc>
            </a:pPr>
            <a:r>
              <a:rPr lang="en-GB" sz="2000" dirty="0"/>
              <a:t>You define a handle class by inheriting from </a:t>
            </a:r>
            <a:r>
              <a:rPr lang="en-GB" sz="2000" dirty="0" smtClean="0"/>
              <a:t>the </a:t>
            </a:r>
            <a:r>
              <a:rPr lang="en-GB" sz="2000" b="1" i="1" u="sng" dirty="0" smtClean="0">
                <a:solidFill>
                  <a:srgbClr val="FF0000"/>
                </a:solidFill>
              </a:rPr>
              <a:t>handle</a:t>
            </a:r>
            <a:r>
              <a:rPr lang="en-GB" sz="2000" dirty="0" smtClean="0"/>
              <a:t> class</a:t>
            </a:r>
            <a:r>
              <a:rPr lang="en-GB" sz="1900" dirty="0" smtClean="0"/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900" dirty="0" smtClean="0"/>
          </a:p>
          <a:p>
            <a:pPr algn="just">
              <a:lnSpc>
                <a:spcPct val="150000"/>
              </a:lnSpc>
            </a:pPr>
            <a:endParaRPr lang="en-GB" sz="19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875" y="-40256"/>
            <a:ext cx="5058494" cy="349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35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0622" y="55364"/>
            <a:ext cx="10515600" cy="1001609"/>
          </a:xfrm>
        </p:spPr>
        <p:txBody>
          <a:bodyPr/>
          <a:lstStyle/>
          <a:p>
            <a:pPr algn="ctr"/>
            <a:r>
              <a:rPr lang="en-GB" b="1" dirty="0" smtClean="0">
                <a:solidFill>
                  <a:srgbClr val="FF0000"/>
                </a:solidFill>
                <a:latin typeface="+mn-lt"/>
              </a:rPr>
              <a:t>Event-Driven Programming</a:t>
            </a:r>
            <a:endParaRPr lang="en-GB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1" y="776413"/>
            <a:ext cx="4759724" cy="531020"/>
          </a:xfrm>
        </p:spPr>
        <p:txBody>
          <a:bodyPr/>
          <a:lstStyle/>
          <a:p>
            <a:pPr algn="ctr"/>
            <a:r>
              <a:rPr lang="en-GB" dirty="0" smtClean="0"/>
              <a:t>Overview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1419" y="1276976"/>
            <a:ext cx="7172948" cy="5581023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sz="1700" dirty="0"/>
              <a:t>A programming paradigm where the flow of the program is determined by events—user actions (such as mouse clicks or key presses), sensor outputs, or messages from other programs. </a:t>
            </a:r>
            <a:endParaRPr lang="en-GB" sz="1700" dirty="0" smtClean="0"/>
          </a:p>
          <a:p>
            <a:pPr>
              <a:lnSpc>
                <a:spcPct val="160000"/>
              </a:lnSpc>
            </a:pPr>
            <a:r>
              <a:rPr lang="en-GB" sz="1700" dirty="0" smtClean="0"/>
              <a:t>Unlike </a:t>
            </a:r>
            <a:r>
              <a:rPr lang="en-GB" sz="1700" dirty="0"/>
              <a:t>procedural programming, which follows a fixed sequence of instructions, event-driven programs react to specific events and execute corresponding functions (event handlers</a:t>
            </a:r>
            <a:r>
              <a:rPr lang="en-GB" sz="1700" dirty="0" smtClean="0"/>
              <a:t>).</a:t>
            </a:r>
          </a:p>
          <a:p>
            <a:pPr>
              <a:lnSpc>
                <a:spcPct val="160000"/>
              </a:lnSpc>
            </a:pPr>
            <a:r>
              <a:rPr lang="en-GB" sz="1700" dirty="0"/>
              <a:t>W</a:t>
            </a:r>
            <a:r>
              <a:rPr lang="en-GB" sz="1700" dirty="0" smtClean="0"/>
              <a:t>idely </a:t>
            </a:r>
            <a:r>
              <a:rPr lang="en-GB" sz="1700" dirty="0"/>
              <a:t>used </a:t>
            </a:r>
            <a:r>
              <a:rPr lang="en-GB" sz="1700" dirty="0" smtClean="0"/>
              <a:t>in: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GB" sz="1700" b="1" dirty="0" smtClean="0"/>
              <a:t>Real-time monitoring systems: </a:t>
            </a:r>
            <a:r>
              <a:rPr lang="en-GB" sz="1700" dirty="0"/>
              <a:t>Sensors that trigger events for updates.</a:t>
            </a:r>
            <a:endParaRPr lang="en-GB" sz="1700" dirty="0" smtClean="0"/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GB" sz="1700" b="1" dirty="0"/>
              <a:t>Interactive </a:t>
            </a:r>
            <a:r>
              <a:rPr lang="en-GB" sz="1700" b="1" dirty="0" smtClean="0"/>
              <a:t>simulations and </a:t>
            </a:r>
            <a:r>
              <a:rPr lang="en-GB" sz="1700" b="1" dirty="0"/>
              <a:t>Graphical user interfaces (GUIs)</a:t>
            </a:r>
            <a:r>
              <a:rPr lang="en-GB" sz="1700" dirty="0"/>
              <a:t> </a:t>
            </a:r>
            <a:r>
              <a:rPr lang="en-GB" sz="1700" dirty="0" smtClean="0"/>
              <a:t>: </a:t>
            </a:r>
            <a:r>
              <a:rPr lang="en-GB" sz="1700" dirty="0"/>
              <a:t>User interactions </a:t>
            </a:r>
            <a:r>
              <a:rPr lang="en-GB" sz="1700" dirty="0" smtClean="0"/>
              <a:t>trigger </a:t>
            </a:r>
            <a:r>
              <a:rPr lang="en-GB" sz="1700" dirty="0"/>
              <a:t>changes in simulation parameters</a:t>
            </a:r>
            <a:r>
              <a:rPr lang="en-GB" sz="1700" dirty="0" smtClean="0"/>
              <a:t>.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GB" sz="1700" b="1" dirty="0"/>
              <a:t>Automated data acquisition</a:t>
            </a:r>
            <a:r>
              <a:rPr lang="en-GB" sz="1700" dirty="0"/>
              <a:t>: Asynchronous hardware events trigger data logging or processing functions.</a:t>
            </a:r>
          </a:p>
          <a:p>
            <a:pPr>
              <a:lnSpc>
                <a:spcPct val="160000"/>
              </a:lnSpc>
            </a:pPr>
            <a:endParaRPr lang="en-GB" sz="170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"/>
          </p:nvPr>
        </p:nvSpPr>
        <p:spPr>
          <a:xfrm>
            <a:off x="7369700" y="744328"/>
            <a:ext cx="4822299" cy="532648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Key Concepts</a:t>
            </a:r>
            <a:endParaRPr lang="en-GB" dirty="0"/>
          </a:p>
        </p:txBody>
      </p:sp>
      <p:sp>
        <p:nvSpPr>
          <p:cNvPr id="11" name="Content Placeholder 9"/>
          <p:cNvSpPr txBox="1">
            <a:spLocks/>
          </p:cNvSpPr>
          <p:nvPr/>
        </p:nvSpPr>
        <p:spPr>
          <a:xfrm>
            <a:off x="7369701" y="1307433"/>
            <a:ext cx="4828354" cy="55505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1800" b="1" dirty="0"/>
              <a:t>Event</a:t>
            </a:r>
            <a:r>
              <a:rPr lang="en-GB" sz="1800" dirty="0"/>
              <a:t>: An action or occurrence detected by the program, such as clicking a button, typing on a keyboard, or receiving data from a sensor</a:t>
            </a:r>
            <a:r>
              <a:rPr lang="en-GB" sz="18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GB" sz="1800" b="1" dirty="0"/>
              <a:t>Event Listener</a:t>
            </a:r>
            <a:r>
              <a:rPr lang="en-GB" sz="1800" dirty="0"/>
              <a:t>: A mechanism that waits for an event to occur and triggers a corresponding event handler</a:t>
            </a:r>
            <a:r>
              <a:rPr lang="en-GB" sz="18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GB" sz="1800" b="1" dirty="0"/>
              <a:t>Event Handler (Callback Function)</a:t>
            </a:r>
            <a:r>
              <a:rPr lang="en-GB" sz="1800" dirty="0"/>
              <a:t>: A function executed in response to a particular event</a:t>
            </a:r>
            <a:r>
              <a:rPr lang="en-GB" sz="18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GB" sz="1800" b="1" dirty="0"/>
              <a:t>Event Loop</a:t>
            </a:r>
            <a:r>
              <a:rPr lang="en-GB" sz="1800" dirty="0"/>
              <a:t>: A continuous loop in the program that listens for and dispatches events to the appropriate handlers.</a:t>
            </a:r>
          </a:p>
        </p:txBody>
      </p:sp>
    </p:spTree>
    <p:extLst>
      <p:ext uri="{BB962C8B-B14F-4D97-AF65-F5344CB8AC3E}">
        <p14:creationId xmlns:p14="http://schemas.microsoft.com/office/powerpoint/2010/main" val="1664969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9787" y="25086"/>
            <a:ext cx="10515600" cy="1001609"/>
          </a:xfrm>
        </p:spPr>
        <p:txBody>
          <a:bodyPr/>
          <a:lstStyle/>
          <a:p>
            <a:pPr algn="ctr"/>
            <a:r>
              <a:rPr lang="en-GB" b="1" dirty="0" smtClean="0">
                <a:solidFill>
                  <a:srgbClr val="FF0000"/>
                </a:solidFill>
                <a:latin typeface="+mn-lt"/>
              </a:rPr>
              <a:t>GUI, Events and </a:t>
            </a:r>
            <a:r>
              <a:rPr lang="en-GB" b="1" dirty="0" err="1" smtClean="0">
                <a:solidFill>
                  <a:srgbClr val="FF0000"/>
                </a:solidFill>
                <a:latin typeface="+mn-lt"/>
              </a:rPr>
              <a:t>Callbacks</a:t>
            </a:r>
            <a:endParaRPr lang="en-GB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0" y="646595"/>
            <a:ext cx="5157787" cy="500563"/>
          </a:xfrm>
        </p:spPr>
        <p:txBody>
          <a:bodyPr/>
          <a:lstStyle/>
          <a:p>
            <a:pPr algn="ctr"/>
            <a:r>
              <a:rPr lang="en-GB" dirty="0" smtClean="0"/>
              <a:t>GUI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60419" y="1101997"/>
            <a:ext cx="5732381" cy="5756001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1900" dirty="0" smtClean="0"/>
              <a:t>GUIs are built using the </a:t>
            </a:r>
            <a:r>
              <a:rPr lang="en-GB" sz="1900" b="1" dirty="0" smtClean="0"/>
              <a:t>App Designer</a:t>
            </a:r>
            <a:r>
              <a:rPr lang="en-GB" sz="1900" dirty="0" smtClean="0"/>
              <a:t>, </a:t>
            </a:r>
            <a:r>
              <a:rPr lang="en-GB" sz="1900" b="1" dirty="0" smtClean="0"/>
              <a:t>GUIDE</a:t>
            </a:r>
            <a:r>
              <a:rPr lang="en-GB" sz="1900" dirty="0" smtClean="0"/>
              <a:t> (legacy), or through low-level programming with </a:t>
            </a:r>
            <a:r>
              <a:rPr lang="en-GB" sz="1900" b="1" dirty="0" smtClean="0"/>
              <a:t>UIControl</a:t>
            </a:r>
            <a:r>
              <a:rPr lang="en-GB" sz="1900" dirty="0" smtClean="0"/>
              <a:t> objects and callback functions.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900" b="1" dirty="0" smtClean="0"/>
              <a:t>Common UI </a:t>
            </a:r>
            <a:r>
              <a:rPr lang="en-GB" sz="1900" b="1" dirty="0"/>
              <a:t>components </a:t>
            </a:r>
            <a:r>
              <a:rPr lang="en-GB" sz="1900" b="1" dirty="0" smtClean="0"/>
              <a:t>and Applications: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750" b="1" dirty="0" smtClean="0"/>
              <a:t>Buttons</a:t>
            </a:r>
            <a:r>
              <a:rPr lang="en-GB" sz="1750" dirty="0"/>
              <a:t>: Trigger actions </a:t>
            </a:r>
            <a:endParaRPr lang="en-GB" sz="175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750" b="1" dirty="0" smtClean="0"/>
              <a:t>Sliders</a:t>
            </a:r>
            <a:r>
              <a:rPr lang="en-GB" sz="1750" dirty="0"/>
              <a:t>: </a:t>
            </a:r>
            <a:r>
              <a:rPr lang="en-GB" sz="1750" dirty="0" smtClean="0"/>
              <a:t>Selection </a:t>
            </a:r>
            <a:r>
              <a:rPr lang="en-GB" sz="1750" dirty="0"/>
              <a:t>of numeric </a:t>
            </a:r>
            <a:r>
              <a:rPr lang="en-GB" sz="1750" dirty="0" smtClean="0"/>
              <a:t>values</a:t>
            </a:r>
            <a:endParaRPr lang="en-GB" sz="175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750" b="1" dirty="0" smtClean="0"/>
              <a:t>Text </a:t>
            </a:r>
            <a:r>
              <a:rPr lang="en-GB" sz="1750" b="1" dirty="0"/>
              <a:t>Boxes</a:t>
            </a:r>
            <a:r>
              <a:rPr lang="en-GB" sz="1750" dirty="0"/>
              <a:t>: </a:t>
            </a:r>
            <a:r>
              <a:rPr lang="en-GB" sz="1750" dirty="0" smtClean="0"/>
              <a:t>Text </a:t>
            </a:r>
            <a:r>
              <a:rPr lang="en-GB" sz="1750" dirty="0"/>
              <a:t>input and display </a:t>
            </a:r>
            <a:endParaRPr lang="en-GB" sz="175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750" b="1" dirty="0" smtClean="0"/>
              <a:t>Dropdown </a:t>
            </a:r>
            <a:r>
              <a:rPr lang="en-GB" sz="1750" b="1" dirty="0"/>
              <a:t>Menus</a:t>
            </a:r>
            <a:r>
              <a:rPr lang="en-GB" sz="1750" dirty="0"/>
              <a:t>: </a:t>
            </a:r>
            <a:r>
              <a:rPr lang="en-GB" sz="1750" dirty="0" smtClean="0"/>
              <a:t>Select </a:t>
            </a:r>
            <a:r>
              <a:rPr lang="en-GB" sz="1750" dirty="0"/>
              <a:t>one option from a list </a:t>
            </a:r>
            <a:endParaRPr lang="en-GB" sz="1750" dirty="0" smtClean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750" b="1" dirty="0" smtClean="0"/>
              <a:t>Check </a:t>
            </a:r>
            <a:r>
              <a:rPr lang="en-GB" sz="1750" b="1" dirty="0"/>
              <a:t>Boxes</a:t>
            </a:r>
            <a:r>
              <a:rPr lang="en-GB" sz="1750" dirty="0"/>
              <a:t>: Enable binary selections (</a:t>
            </a:r>
            <a:r>
              <a:rPr lang="en-GB" sz="1750" dirty="0" smtClean="0"/>
              <a:t>checked/unchecked)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900" b="1" dirty="0"/>
              <a:t>Timers</a:t>
            </a:r>
            <a:r>
              <a:rPr lang="en-GB" sz="1900" dirty="0"/>
              <a:t>: For scheduling actions</a:t>
            </a:r>
            <a:r>
              <a:rPr lang="en-GB" sz="1900" dirty="0" smtClean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900" b="1" dirty="0"/>
              <a:t>Listeners</a:t>
            </a:r>
            <a:r>
              <a:rPr lang="en-GB" sz="1900" dirty="0"/>
              <a:t>: For monitoring changes in properties.</a:t>
            </a:r>
          </a:p>
          <a:p>
            <a:pPr>
              <a:lnSpc>
                <a:spcPct val="150000"/>
              </a:lnSpc>
            </a:pPr>
            <a:endParaRPr lang="en-GB" sz="190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"/>
          </p:nvPr>
        </p:nvSpPr>
        <p:spPr>
          <a:xfrm>
            <a:off x="5997574" y="646595"/>
            <a:ext cx="5183188" cy="532648"/>
          </a:xfrm>
        </p:spPr>
        <p:txBody>
          <a:bodyPr>
            <a:normAutofit/>
          </a:bodyPr>
          <a:lstStyle/>
          <a:p>
            <a:pPr algn="ctr"/>
            <a:r>
              <a:rPr lang="en-GB" dirty="0" err="1" smtClean="0"/>
              <a:t>Callbacks</a:t>
            </a:r>
            <a:endParaRPr lang="en-GB" dirty="0"/>
          </a:p>
        </p:txBody>
      </p:sp>
      <p:sp>
        <p:nvSpPr>
          <p:cNvPr id="11" name="Content Placeholder 9"/>
          <p:cNvSpPr txBox="1">
            <a:spLocks/>
          </p:cNvSpPr>
          <p:nvPr/>
        </p:nvSpPr>
        <p:spPr>
          <a:xfrm>
            <a:off x="6135512" y="1147158"/>
            <a:ext cx="6056488" cy="5710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1900" dirty="0" smtClean="0"/>
              <a:t>Callback functions </a:t>
            </a:r>
            <a:r>
              <a:rPr lang="en-GB" sz="1900" dirty="0"/>
              <a:t>are executed when specific events </a:t>
            </a:r>
            <a:r>
              <a:rPr lang="en-GB" sz="1900" dirty="0" smtClean="0"/>
              <a:t>occur. </a:t>
            </a:r>
          </a:p>
          <a:p>
            <a:pPr>
              <a:lnSpc>
                <a:spcPct val="150000"/>
              </a:lnSpc>
            </a:pPr>
            <a:r>
              <a:rPr lang="en-GB" sz="1900" dirty="0" smtClean="0"/>
              <a:t>They are linked </a:t>
            </a:r>
            <a:r>
              <a:rPr lang="en-GB" sz="1900" dirty="0"/>
              <a:t>to UI components using properties like</a:t>
            </a:r>
            <a:r>
              <a:rPr lang="en-GB" sz="1900" dirty="0" smtClean="0"/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700" b="1" dirty="0" err="1" smtClean="0"/>
              <a:t>ButtonPushedFcn</a:t>
            </a:r>
            <a:r>
              <a:rPr lang="en-US" sz="1700" b="1" dirty="0" smtClean="0"/>
              <a:t>:</a:t>
            </a:r>
            <a:r>
              <a:rPr lang="en-US" sz="1700" dirty="0" smtClean="0"/>
              <a:t> for buttons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700" b="1" dirty="0" err="1" smtClean="0"/>
              <a:t>ValueChangedFcn</a:t>
            </a:r>
            <a:r>
              <a:rPr lang="en-US" sz="1700" b="1" dirty="0" smtClean="0"/>
              <a:t>:</a:t>
            </a:r>
            <a:r>
              <a:rPr lang="en-US" sz="1700" dirty="0" smtClean="0"/>
              <a:t> for sliders, dropdowns, text and check boxes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700" b="1" dirty="0" err="1" smtClean="0"/>
              <a:t>KeyPressFcn</a:t>
            </a:r>
            <a:r>
              <a:rPr lang="en-US" sz="1700" b="1" dirty="0" smtClean="0"/>
              <a:t>:</a:t>
            </a:r>
            <a:r>
              <a:rPr lang="en-US" sz="1700" dirty="0" smtClean="0"/>
              <a:t> for </a:t>
            </a:r>
            <a:r>
              <a:rPr lang="en-GB" sz="1700" dirty="0" smtClean="0"/>
              <a:t>keyboard press</a:t>
            </a:r>
            <a:r>
              <a:rPr lang="en-US" sz="1700" dirty="0" smtClean="0"/>
              <a:t> events in figure windows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700" b="1" dirty="0" err="1"/>
              <a:t>MouseDownFcn</a:t>
            </a:r>
            <a:r>
              <a:rPr lang="en-GB" sz="1700" dirty="0"/>
              <a:t>: </a:t>
            </a:r>
            <a:r>
              <a:rPr lang="en-GB" sz="1700" dirty="0" smtClean="0"/>
              <a:t>when </a:t>
            </a:r>
            <a:r>
              <a:rPr lang="en-GB" sz="1700" dirty="0"/>
              <a:t>mouse button is </a:t>
            </a:r>
            <a:r>
              <a:rPr lang="en-GB" sz="1700" dirty="0" smtClean="0"/>
              <a:t>pressed</a:t>
            </a:r>
          </a:p>
          <a:p>
            <a:pPr>
              <a:lnSpc>
                <a:spcPct val="150000"/>
              </a:lnSpc>
            </a:pPr>
            <a:r>
              <a:rPr lang="en-GB" sz="1900" dirty="0"/>
              <a:t>Callback functions can be defined in different ways: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700" b="1" dirty="0"/>
              <a:t>Anonymous functions</a:t>
            </a:r>
            <a:r>
              <a:rPr lang="en-GB" sz="17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700" b="1" dirty="0"/>
              <a:t>Function handles</a:t>
            </a:r>
            <a:r>
              <a:rPr lang="en-GB" sz="17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700" b="1" dirty="0"/>
              <a:t>Local or nested functions</a:t>
            </a:r>
            <a:r>
              <a:rPr lang="en-GB" sz="1700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GB" sz="1900" dirty="0"/>
          </a:p>
        </p:txBody>
      </p:sp>
    </p:spTree>
    <p:extLst>
      <p:ext uri="{BB962C8B-B14F-4D97-AF65-F5344CB8AC3E}">
        <p14:creationId xmlns:p14="http://schemas.microsoft.com/office/powerpoint/2010/main" val="197312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60556" y="189823"/>
            <a:ext cx="12131443" cy="609520"/>
          </a:xfrm>
        </p:spPr>
        <p:txBody>
          <a:bodyPr>
            <a:noAutofit/>
          </a:bodyPr>
          <a:lstStyle/>
          <a:p>
            <a:pPr algn="ctr"/>
            <a:r>
              <a:rPr lang="en-GB" sz="3200" dirty="0" smtClean="0">
                <a:solidFill>
                  <a:srgbClr val="FF0000"/>
                </a:solidFill>
              </a:rPr>
              <a:t>Buttons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12" name="Content Placeholder 7"/>
          <p:cNvSpPr>
            <a:spLocks noGrp="1"/>
          </p:cNvSpPr>
          <p:nvPr>
            <p:ph sz="half" idx="2"/>
          </p:nvPr>
        </p:nvSpPr>
        <p:spPr>
          <a:xfrm>
            <a:off x="1" y="880208"/>
            <a:ext cx="2282972" cy="6023208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1800" dirty="0" smtClean="0"/>
              <a:t>Trigger events when clicked. </a:t>
            </a:r>
          </a:p>
          <a:p>
            <a:pPr>
              <a:lnSpc>
                <a:spcPct val="150000"/>
              </a:lnSpc>
            </a:pPr>
            <a:r>
              <a:rPr lang="en-GB" sz="1800" b="1" dirty="0" err="1" smtClean="0">
                <a:solidFill>
                  <a:srgbClr val="C00000"/>
                </a:solidFill>
              </a:rPr>
              <a:t>ButtonPushedFcn</a:t>
            </a:r>
            <a:r>
              <a:rPr lang="en-GB" sz="1800" dirty="0" smtClean="0"/>
              <a:t> callback is </a:t>
            </a:r>
            <a:r>
              <a:rPr lang="en-GB" sz="1800" dirty="0"/>
              <a:t>executed when the user presses the button</a:t>
            </a:r>
            <a:r>
              <a:rPr lang="en-GB" sz="18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Created using the </a:t>
            </a:r>
            <a:r>
              <a:rPr lang="en-GB" sz="1800" b="1" dirty="0" err="1">
                <a:solidFill>
                  <a:srgbClr val="C00000"/>
                </a:solidFill>
              </a:rPr>
              <a:t>uibutton</a:t>
            </a:r>
            <a:r>
              <a:rPr lang="en-GB" sz="1800" dirty="0"/>
              <a:t> function </a:t>
            </a:r>
            <a:r>
              <a:rPr lang="en-GB" sz="1800" b="1" dirty="0"/>
              <a:t>(for App Designer or </a:t>
            </a:r>
            <a:r>
              <a:rPr lang="en-GB" sz="1800" b="1" dirty="0" err="1"/>
              <a:t>uifigure</a:t>
            </a:r>
            <a:r>
              <a:rPr lang="en-GB" sz="1800" b="1" dirty="0"/>
              <a:t>-based apps) </a:t>
            </a:r>
            <a:r>
              <a:rPr lang="en-GB" sz="1800" dirty="0"/>
              <a:t>or </a:t>
            </a:r>
            <a:r>
              <a:rPr lang="en-GB" sz="1800" b="1" dirty="0" err="1">
                <a:solidFill>
                  <a:srgbClr val="C00000"/>
                </a:solidFill>
              </a:rPr>
              <a:t>uicontrol</a:t>
            </a:r>
            <a:r>
              <a:rPr lang="en-GB" sz="1800" dirty="0"/>
              <a:t> for traditional </a:t>
            </a:r>
            <a:r>
              <a:rPr lang="en-GB" sz="1800" dirty="0" smtClean="0"/>
              <a:t>figures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800" dirty="0" smtClean="0"/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391" y="799342"/>
            <a:ext cx="9960608" cy="592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2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7"/>
          <p:cNvSpPr>
            <a:spLocks noGrp="1"/>
          </p:cNvSpPr>
          <p:nvPr>
            <p:ph sz="half" idx="2"/>
          </p:nvPr>
        </p:nvSpPr>
        <p:spPr>
          <a:xfrm>
            <a:off x="145334" y="544888"/>
            <a:ext cx="12020441" cy="617792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1800" dirty="0" smtClean="0"/>
              <a:t>Allows the user to select a numeric value from a continuous or discrete range by moving the slider handle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78723" y="189824"/>
            <a:ext cx="12038590" cy="446018"/>
          </a:xfrm>
        </p:spPr>
        <p:txBody>
          <a:bodyPr>
            <a:noAutofit/>
          </a:bodyPr>
          <a:lstStyle/>
          <a:p>
            <a:pPr algn="ctr"/>
            <a:r>
              <a:rPr lang="en-GB" sz="3200" dirty="0" smtClean="0">
                <a:solidFill>
                  <a:srgbClr val="FF0000"/>
                </a:solidFill>
              </a:rPr>
              <a:t>Sliders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12" name="Content Placeholder 7"/>
          <p:cNvSpPr>
            <a:spLocks noGrp="1"/>
          </p:cNvSpPr>
          <p:nvPr>
            <p:ph sz="half" idx="2"/>
          </p:nvPr>
        </p:nvSpPr>
        <p:spPr>
          <a:xfrm>
            <a:off x="102945" y="1071846"/>
            <a:ext cx="2373807" cy="5764956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1800" dirty="0"/>
              <a:t>Useful for adjusting parameters interactively</a:t>
            </a:r>
            <a:r>
              <a:rPr lang="en-GB" sz="1800" dirty="0" smtClean="0"/>
              <a:t>.</a:t>
            </a:r>
            <a:endParaRPr lang="en-GB" sz="1800" b="1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800" b="1" dirty="0" err="1" smtClean="0">
                <a:solidFill>
                  <a:srgbClr val="C00000"/>
                </a:solidFill>
              </a:rPr>
              <a:t>ValueChangedFcn</a:t>
            </a:r>
            <a:r>
              <a:rPr lang="en-GB" sz="1800" dirty="0" smtClean="0"/>
              <a:t> callback </a:t>
            </a:r>
            <a:r>
              <a:rPr lang="en-GB" sz="1800" dirty="0"/>
              <a:t>that is executed when the </a:t>
            </a:r>
            <a:r>
              <a:rPr lang="en-GB" sz="1800" dirty="0" smtClean="0"/>
              <a:t>slider is moved.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Created using the </a:t>
            </a:r>
            <a:r>
              <a:rPr lang="en-GB" sz="1800" b="1" dirty="0" err="1" smtClean="0">
                <a:solidFill>
                  <a:srgbClr val="C00000"/>
                </a:solidFill>
              </a:rPr>
              <a:t>uislider</a:t>
            </a:r>
            <a:r>
              <a:rPr lang="en-GB" sz="1800" dirty="0" smtClean="0"/>
              <a:t> </a:t>
            </a:r>
            <a:r>
              <a:rPr lang="en-GB" sz="1800" dirty="0"/>
              <a:t>function </a:t>
            </a:r>
            <a:r>
              <a:rPr lang="en-GB" sz="1800" b="1" dirty="0"/>
              <a:t>(for App Designer or </a:t>
            </a:r>
            <a:r>
              <a:rPr lang="en-GB" sz="1800" b="1" dirty="0" err="1"/>
              <a:t>uifigure</a:t>
            </a:r>
            <a:r>
              <a:rPr lang="en-GB" sz="1800" b="1" dirty="0"/>
              <a:t>-based apps) </a:t>
            </a:r>
            <a:r>
              <a:rPr lang="en-GB" sz="1800" dirty="0"/>
              <a:t>or </a:t>
            </a:r>
            <a:r>
              <a:rPr lang="en-GB" sz="1800" b="1" dirty="0" err="1">
                <a:solidFill>
                  <a:srgbClr val="C00000"/>
                </a:solidFill>
              </a:rPr>
              <a:t>uicontrol</a:t>
            </a:r>
            <a:r>
              <a:rPr lang="en-GB" sz="1800" dirty="0"/>
              <a:t> for traditional </a:t>
            </a:r>
            <a:r>
              <a:rPr lang="en-GB" sz="1800" dirty="0" smtClean="0"/>
              <a:t>figures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800" dirty="0" smtClean="0"/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031" y="990906"/>
            <a:ext cx="9767744" cy="584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126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2737144" y="94912"/>
            <a:ext cx="9404393" cy="540929"/>
          </a:xfrm>
        </p:spPr>
        <p:txBody>
          <a:bodyPr>
            <a:noAutofit/>
          </a:bodyPr>
          <a:lstStyle/>
          <a:p>
            <a:pPr algn="ctr"/>
            <a:r>
              <a:rPr lang="en-GB" sz="3200" dirty="0" smtClean="0">
                <a:solidFill>
                  <a:srgbClr val="FF0000"/>
                </a:solidFill>
              </a:rPr>
              <a:t>Text Boxes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12" name="Content Placeholder 7"/>
          <p:cNvSpPr>
            <a:spLocks noGrp="1"/>
          </p:cNvSpPr>
          <p:nvPr>
            <p:ph sz="half" idx="2"/>
          </p:nvPr>
        </p:nvSpPr>
        <p:spPr>
          <a:xfrm>
            <a:off x="1" y="0"/>
            <a:ext cx="2737144" cy="6858000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1750" dirty="0"/>
              <a:t>Allows the </a:t>
            </a:r>
            <a:r>
              <a:rPr lang="en-GB" sz="1750" dirty="0" smtClean="0"/>
              <a:t>user to input or display text.</a:t>
            </a:r>
            <a:endParaRPr lang="en-GB" sz="1750" dirty="0"/>
          </a:p>
          <a:p>
            <a:pPr>
              <a:lnSpc>
                <a:spcPct val="150000"/>
              </a:lnSpc>
            </a:pPr>
            <a:r>
              <a:rPr lang="en-GB" sz="1750" dirty="0"/>
              <a:t>They can be single-line (</a:t>
            </a:r>
            <a:r>
              <a:rPr lang="en-GB" sz="1750" b="1" dirty="0" err="1">
                <a:solidFill>
                  <a:srgbClr val="C00000"/>
                </a:solidFill>
              </a:rPr>
              <a:t>uitextfield</a:t>
            </a:r>
            <a:r>
              <a:rPr lang="en-GB" sz="1750" dirty="0"/>
              <a:t>) or multi-line (</a:t>
            </a:r>
            <a:r>
              <a:rPr lang="en-GB" sz="1750" b="1" dirty="0" err="1">
                <a:solidFill>
                  <a:srgbClr val="C00000"/>
                </a:solidFill>
              </a:rPr>
              <a:t>uitextarea</a:t>
            </a:r>
            <a:r>
              <a:rPr lang="en-GB" sz="1750" dirty="0"/>
              <a:t>)</a:t>
            </a:r>
          </a:p>
          <a:p>
            <a:pPr>
              <a:lnSpc>
                <a:spcPct val="150000"/>
              </a:lnSpc>
            </a:pPr>
            <a:r>
              <a:rPr lang="en-GB" sz="1750" dirty="0" smtClean="0"/>
              <a:t>The </a:t>
            </a:r>
            <a:r>
              <a:rPr lang="en-GB" sz="1750" b="1" dirty="0" err="1" smtClean="0">
                <a:solidFill>
                  <a:srgbClr val="C00000"/>
                </a:solidFill>
              </a:rPr>
              <a:t>ValueChangedFcn</a:t>
            </a:r>
            <a:r>
              <a:rPr lang="en-GB" sz="1750" dirty="0" smtClean="0"/>
              <a:t> callback is trigged </a:t>
            </a:r>
            <a:r>
              <a:rPr lang="en-GB" sz="1750" dirty="0"/>
              <a:t>when the </a:t>
            </a:r>
            <a:r>
              <a:rPr lang="en-GB" sz="1750" dirty="0" smtClean="0"/>
              <a:t>content of the text box changes.</a:t>
            </a:r>
          </a:p>
          <a:p>
            <a:pPr>
              <a:lnSpc>
                <a:spcPct val="150000"/>
              </a:lnSpc>
            </a:pPr>
            <a:r>
              <a:rPr lang="en-GB" sz="1750" dirty="0"/>
              <a:t>Created using the </a:t>
            </a:r>
            <a:r>
              <a:rPr lang="en-GB" sz="1750" b="1" dirty="0" err="1" smtClean="0">
                <a:solidFill>
                  <a:srgbClr val="C00000"/>
                </a:solidFill>
              </a:rPr>
              <a:t>uitextfield</a:t>
            </a:r>
            <a:r>
              <a:rPr lang="en-GB" sz="1750" b="1" dirty="0" smtClean="0">
                <a:solidFill>
                  <a:srgbClr val="C00000"/>
                </a:solidFill>
              </a:rPr>
              <a:t> </a:t>
            </a:r>
            <a:r>
              <a:rPr lang="en-GB" sz="1750" dirty="0" smtClean="0"/>
              <a:t>for </a:t>
            </a:r>
            <a:r>
              <a:rPr lang="en-GB" sz="1750" dirty="0"/>
              <a:t>single-line </a:t>
            </a:r>
            <a:r>
              <a:rPr lang="en-GB" sz="1750" dirty="0" smtClean="0"/>
              <a:t>or </a:t>
            </a:r>
            <a:r>
              <a:rPr lang="en-GB" sz="1750" b="1" dirty="0" err="1">
                <a:solidFill>
                  <a:srgbClr val="C00000"/>
                </a:solidFill>
              </a:rPr>
              <a:t>uitextarea</a:t>
            </a:r>
            <a:r>
              <a:rPr lang="en-GB" sz="1750" b="1" dirty="0">
                <a:solidFill>
                  <a:srgbClr val="C00000"/>
                </a:solidFill>
              </a:rPr>
              <a:t> </a:t>
            </a:r>
            <a:r>
              <a:rPr lang="en-GB" sz="1750" dirty="0" smtClean="0"/>
              <a:t>function multi-line </a:t>
            </a:r>
            <a:r>
              <a:rPr lang="en-GB" sz="1750" b="1" dirty="0" smtClean="0"/>
              <a:t>(</a:t>
            </a:r>
            <a:r>
              <a:rPr lang="en-GB" sz="1750" b="1" dirty="0"/>
              <a:t>for App Designer or </a:t>
            </a:r>
            <a:r>
              <a:rPr lang="en-GB" sz="1750" b="1" dirty="0" err="1"/>
              <a:t>uifigure</a:t>
            </a:r>
            <a:r>
              <a:rPr lang="en-GB" sz="1750" b="1" dirty="0"/>
              <a:t>-based apps) </a:t>
            </a:r>
            <a:r>
              <a:rPr lang="en-GB" sz="1750" dirty="0"/>
              <a:t>or </a:t>
            </a:r>
            <a:r>
              <a:rPr lang="en-GB" sz="1750" b="1" dirty="0" err="1">
                <a:solidFill>
                  <a:srgbClr val="C00000"/>
                </a:solidFill>
              </a:rPr>
              <a:t>uicontrol</a:t>
            </a:r>
            <a:r>
              <a:rPr lang="en-GB" sz="1750" dirty="0"/>
              <a:t> for traditional </a:t>
            </a:r>
            <a:r>
              <a:rPr lang="en-GB" sz="1750" dirty="0" smtClean="0"/>
              <a:t>figures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750" dirty="0" smtClean="0"/>
          </a:p>
          <a:p>
            <a:pPr>
              <a:lnSpc>
                <a:spcPct val="150000"/>
              </a:lnSpc>
            </a:pPr>
            <a:endParaRPr lang="en-GB" sz="175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811" y="635841"/>
            <a:ext cx="9580006" cy="622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1550240" y="70690"/>
            <a:ext cx="9404393" cy="540929"/>
          </a:xfrm>
        </p:spPr>
        <p:txBody>
          <a:bodyPr>
            <a:noAutofit/>
          </a:bodyPr>
          <a:lstStyle/>
          <a:p>
            <a:pPr algn="ctr"/>
            <a:r>
              <a:rPr lang="en-GB" sz="3200" dirty="0" smtClean="0">
                <a:solidFill>
                  <a:srgbClr val="FF0000"/>
                </a:solidFill>
              </a:rPr>
              <a:t>Dropdown Menus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12" name="Content Placeholder 7"/>
          <p:cNvSpPr>
            <a:spLocks noGrp="1"/>
          </p:cNvSpPr>
          <p:nvPr>
            <p:ph sz="half" idx="2"/>
          </p:nvPr>
        </p:nvSpPr>
        <p:spPr>
          <a:xfrm>
            <a:off x="532896" y="551064"/>
            <a:ext cx="11163561" cy="1247458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1700" dirty="0"/>
              <a:t>Allows the users to select </a:t>
            </a:r>
            <a:r>
              <a:rPr lang="en-GB" sz="1700" dirty="0" smtClean="0"/>
              <a:t>one option from </a:t>
            </a:r>
            <a:r>
              <a:rPr lang="en-GB" sz="1700" dirty="0"/>
              <a:t>a list of predefined options.</a:t>
            </a:r>
          </a:p>
          <a:p>
            <a:pPr>
              <a:lnSpc>
                <a:spcPct val="150000"/>
              </a:lnSpc>
            </a:pPr>
            <a:r>
              <a:rPr lang="en-GB" sz="1700" dirty="0" smtClean="0"/>
              <a:t>The </a:t>
            </a:r>
            <a:r>
              <a:rPr lang="en-GB" sz="1700" b="1" dirty="0" err="1" smtClean="0">
                <a:solidFill>
                  <a:srgbClr val="C00000"/>
                </a:solidFill>
              </a:rPr>
              <a:t>ValueChangedFcn</a:t>
            </a:r>
            <a:r>
              <a:rPr lang="en-GB" sz="1700" dirty="0" smtClean="0"/>
              <a:t> callback is </a:t>
            </a:r>
            <a:r>
              <a:rPr lang="en-GB" sz="1700" dirty="0"/>
              <a:t>triggered when the user selects a new option from the </a:t>
            </a:r>
            <a:r>
              <a:rPr lang="en-GB" sz="1700" dirty="0" smtClean="0"/>
              <a:t>dropdown.</a:t>
            </a:r>
          </a:p>
          <a:p>
            <a:pPr>
              <a:lnSpc>
                <a:spcPct val="100000"/>
              </a:lnSpc>
            </a:pPr>
            <a:r>
              <a:rPr lang="en-GB" sz="1700" dirty="0" smtClean="0"/>
              <a:t>Created </a:t>
            </a:r>
            <a:r>
              <a:rPr lang="en-GB" sz="1700" dirty="0"/>
              <a:t>using the </a:t>
            </a:r>
            <a:r>
              <a:rPr lang="en-GB" sz="1700" b="1" dirty="0" err="1" smtClean="0">
                <a:solidFill>
                  <a:srgbClr val="C00000"/>
                </a:solidFill>
              </a:rPr>
              <a:t>uidropdown</a:t>
            </a:r>
            <a:r>
              <a:rPr lang="en-GB" sz="1700" b="1" dirty="0" smtClean="0">
                <a:solidFill>
                  <a:srgbClr val="C00000"/>
                </a:solidFill>
              </a:rPr>
              <a:t> </a:t>
            </a:r>
            <a:r>
              <a:rPr lang="en-GB" sz="1700" b="1" dirty="0" smtClean="0"/>
              <a:t>(</a:t>
            </a:r>
            <a:r>
              <a:rPr lang="en-GB" sz="1700" b="1" dirty="0"/>
              <a:t>for App Designer or </a:t>
            </a:r>
            <a:r>
              <a:rPr lang="en-GB" sz="1700" b="1" dirty="0" err="1"/>
              <a:t>uifigure</a:t>
            </a:r>
            <a:r>
              <a:rPr lang="en-GB" sz="1700" b="1" dirty="0"/>
              <a:t>-based apps) </a:t>
            </a:r>
            <a:r>
              <a:rPr lang="en-GB" sz="1700" dirty="0"/>
              <a:t>or </a:t>
            </a:r>
            <a:r>
              <a:rPr lang="en-GB" sz="1700" b="1" dirty="0" err="1">
                <a:solidFill>
                  <a:srgbClr val="C00000"/>
                </a:solidFill>
              </a:rPr>
              <a:t>uicontrol</a:t>
            </a:r>
            <a:r>
              <a:rPr lang="en-GB" sz="1700" dirty="0"/>
              <a:t> for traditional </a:t>
            </a:r>
            <a:r>
              <a:rPr lang="en-GB" sz="1700" dirty="0" smtClean="0"/>
              <a:t>figures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700" dirty="0" smtClean="0"/>
          </a:p>
          <a:p>
            <a:pPr>
              <a:lnSpc>
                <a:spcPct val="150000"/>
              </a:lnSpc>
            </a:pPr>
            <a:endParaRPr lang="en-GB" sz="17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96" y="1798522"/>
            <a:ext cx="11163561" cy="505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1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1550240" y="70690"/>
            <a:ext cx="9404393" cy="540929"/>
          </a:xfrm>
        </p:spPr>
        <p:txBody>
          <a:bodyPr>
            <a:noAutofit/>
          </a:bodyPr>
          <a:lstStyle/>
          <a:p>
            <a:pPr algn="ctr"/>
            <a:r>
              <a:rPr lang="en-GB" sz="3200" dirty="0" smtClean="0">
                <a:solidFill>
                  <a:srgbClr val="FF0000"/>
                </a:solidFill>
              </a:rPr>
              <a:t>Check Boxes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12" name="Content Placeholder 7"/>
          <p:cNvSpPr>
            <a:spLocks noGrp="1"/>
          </p:cNvSpPr>
          <p:nvPr>
            <p:ph sz="half" idx="2"/>
          </p:nvPr>
        </p:nvSpPr>
        <p:spPr>
          <a:xfrm>
            <a:off x="78725" y="514728"/>
            <a:ext cx="2513085" cy="6279687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1700" dirty="0"/>
              <a:t>Allows the </a:t>
            </a:r>
            <a:r>
              <a:rPr lang="en-GB" sz="1800" dirty="0"/>
              <a:t>users to make binary (true/false) selections. </a:t>
            </a:r>
            <a:r>
              <a:rPr lang="en-GB" sz="1800" dirty="0" smtClean="0"/>
              <a:t>Useful </a:t>
            </a:r>
            <a:r>
              <a:rPr lang="en-GB" sz="1800" dirty="0"/>
              <a:t>for enabling or disabling options.</a:t>
            </a:r>
            <a:endParaRPr lang="en-GB" sz="1700" dirty="0"/>
          </a:p>
          <a:p>
            <a:pPr>
              <a:lnSpc>
                <a:spcPct val="150000"/>
              </a:lnSpc>
            </a:pPr>
            <a:r>
              <a:rPr lang="en-GB" sz="1700" dirty="0" smtClean="0"/>
              <a:t>The </a:t>
            </a:r>
            <a:r>
              <a:rPr lang="en-GB" sz="1700" b="1" dirty="0" err="1" smtClean="0">
                <a:solidFill>
                  <a:srgbClr val="C00000"/>
                </a:solidFill>
              </a:rPr>
              <a:t>ValueChangedFcn</a:t>
            </a:r>
            <a:r>
              <a:rPr lang="en-GB" sz="1700" dirty="0" smtClean="0"/>
              <a:t> callback is </a:t>
            </a:r>
            <a:r>
              <a:rPr lang="en-GB" sz="1800" dirty="0"/>
              <a:t>triggered when </a:t>
            </a:r>
            <a:r>
              <a:rPr lang="en-GB" sz="1800" dirty="0" smtClean="0"/>
              <a:t>the </a:t>
            </a:r>
            <a:r>
              <a:rPr lang="en-GB" sz="1800" dirty="0"/>
              <a:t>checkbox</a:t>
            </a:r>
            <a:r>
              <a:rPr lang="en-GB" sz="1800" dirty="0" smtClean="0"/>
              <a:t> state changes</a:t>
            </a:r>
            <a:r>
              <a:rPr lang="en-GB" sz="1800" dirty="0"/>
              <a:t>.</a:t>
            </a:r>
            <a:endParaRPr lang="en-GB" sz="1700" dirty="0" smtClean="0"/>
          </a:p>
          <a:p>
            <a:pPr>
              <a:lnSpc>
                <a:spcPct val="150000"/>
              </a:lnSpc>
            </a:pPr>
            <a:r>
              <a:rPr lang="en-GB" sz="1700" dirty="0" smtClean="0"/>
              <a:t>Created </a:t>
            </a:r>
            <a:r>
              <a:rPr lang="en-GB" sz="1700" dirty="0"/>
              <a:t>using the </a:t>
            </a:r>
            <a:r>
              <a:rPr lang="en-GB" sz="1700" b="1" dirty="0" err="1" smtClean="0">
                <a:solidFill>
                  <a:srgbClr val="C00000"/>
                </a:solidFill>
              </a:rPr>
              <a:t>uicheckbox</a:t>
            </a:r>
            <a:r>
              <a:rPr lang="en-GB" sz="1700" b="1" dirty="0" smtClean="0">
                <a:solidFill>
                  <a:srgbClr val="C00000"/>
                </a:solidFill>
              </a:rPr>
              <a:t> </a:t>
            </a:r>
            <a:r>
              <a:rPr lang="en-GB" sz="1700" b="1" dirty="0" smtClean="0"/>
              <a:t>(</a:t>
            </a:r>
            <a:r>
              <a:rPr lang="en-GB" sz="1700" b="1" dirty="0"/>
              <a:t>for App Designer or </a:t>
            </a:r>
            <a:r>
              <a:rPr lang="en-GB" sz="1700" b="1" dirty="0" err="1"/>
              <a:t>uifigure</a:t>
            </a:r>
            <a:r>
              <a:rPr lang="en-GB" sz="1700" b="1" dirty="0"/>
              <a:t>-based apps) </a:t>
            </a:r>
            <a:r>
              <a:rPr lang="en-GB" sz="1700" dirty="0"/>
              <a:t>or </a:t>
            </a:r>
            <a:r>
              <a:rPr lang="en-GB" sz="1700" b="1" dirty="0" err="1">
                <a:solidFill>
                  <a:srgbClr val="C00000"/>
                </a:solidFill>
              </a:rPr>
              <a:t>uicontrol</a:t>
            </a:r>
            <a:r>
              <a:rPr lang="en-GB" sz="1700" dirty="0"/>
              <a:t> for traditional </a:t>
            </a:r>
            <a:r>
              <a:rPr lang="en-GB" sz="1700" dirty="0" smtClean="0"/>
              <a:t>figures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700" dirty="0" smtClean="0"/>
          </a:p>
          <a:p>
            <a:pPr>
              <a:lnSpc>
                <a:spcPct val="150000"/>
              </a:lnSpc>
            </a:pPr>
            <a:endParaRPr lang="en-GB" sz="17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810" y="531381"/>
            <a:ext cx="9573949" cy="634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33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56146" y="107977"/>
            <a:ext cx="4329587" cy="845933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</a:rPr>
              <a:t>Events, Listeners and Notifications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6147" y="857956"/>
            <a:ext cx="4877098" cy="593795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sz="1900" b="1" dirty="0"/>
              <a:t>Listeners</a:t>
            </a:r>
            <a:r>
              <a:rPr lang="en-GB" sz="1900" dirty="0"/>
              <a:t> </a:t>
            </a:r>
            <a:r>
              <a:rPr lang="en-GB" sz="1900" dirty="0" smtClean="0"/>
              <a:t>respond </a:t>
            </a:r>
            <a:r>
              <a:rPr lang="en-GB" sz="1900" dirty="0"/>
              <a:t>to changes in the value of a property or the occurrence of an event. </a:t>
            </a:r>
            <a:endParaRPr lang="en-GB" sz="1900" dirty="0" smtClean="0"/>
          </a:p>
          <a:p>
            <a:pPr algn="just">
              <a:lnSpc>
                <a:spcPct val="150000"/>
              </a:lnSpc>
            </a:pPr>
            <a:r>
              <a:rPr lang="en-GB" sz="1900" dirty="0" smtClean="0"/>
              <a:t>It </a:t>
            </a:r>
            <a:r>
              <a:rPr lang="en-GB" sz="1900" dirty="0"/>
              <a:t>monitors an object for a specific event, and when that event occurs, a specified function (callback) is executed</a:t>
            </a:r>
            <a:r>
              <a:rPr lang="en-GB" sz="19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GB" sz="1900" dirty="0" smtClean="0"/>
              <a:t>The </a:t>
            </a:r>
            <a:r>
              <a:rPr lang="en-GB" sz="1900" b="1" dirty="0" err="1" smtClean="0"/>
              <a:t>addlistener</a:t>
            </a:r>
            <a:r>
              <a:rPr lang="en-GB" sz="1900" dirty="0" smtClean="0"/>
              <a:t> function </a:t>
            </a:r>
            <a:r>
              <a:rPr lang="en-GB" sz="1900" dirty="0"/>
              <a:t>is used to add a listener to an </a:t>
            </a:r>
            <a:r>
              <a:rPr lang="en-GB" sz="1900" dirty="0" smtClean="0"/>
              <a:t>object.</a:t>
            </a:r>
          </a:p>
          <a:p>
            <a:pPr algn="just">
              <a:lnSpc>
                <a:spcPct val="150000"/>
              </a:lnSpc>
            </a:pPr>
            <a:r>
              <a:rPr lang="en-GB" sz="1900" dirty="0" smtClean="0"/>
              <a:t>The </a:t>
            </a:r>
            <a:r>
              <a:rPr lang="en-GB" sz="1900" b="1" dirty="0" smtClean="0"/>
              <a:t>notify</a:t>
            </a:r>
            <a:r>
              <a:rPr lang="en-GB" sz="1900" dirty="0" smtClean="0"/>
              <a:t> function </a:t>
            </a:r>
            <a:r>
              <a:rPr lang="en-GB" sz="1900" dirty="0"/>
              <a:t>is used to trigger an event from within a class. </a:t>
            </a:r>
            <a:endParaRPr lang="en-GB" sz="1900" dirty="0" smtClean="0"/>
          </a:p>
          <a:p>
            <a:pPr algn="just">
              <a:lnSpc>
                <a:spcPct val="150000"/>
              </a:lnSpc>
            </a:pPr>
            <a:r>
              <a:rPr lang="en-GB" sz="1900" dirty="0" smtClean="0"/>
              <a:t>It tells </a:t>
            </a:r>
            <a:r>
              <a:rPr lang="en-GB" sz="1900" dirty="0"/>
              <a:t>MATLAB that a specific event has occurred, and any listeners waiting for this event will execute their </a:t>
            </a:r>
            <a:r>
              <a:rPr lang="en-GB" sz="1900" dirty="0" err="1"/>
              <a:t>callbacks</a:t>
            </a:r>
            <a:r>
              <a:rPr lang="en-GB" sz="19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GB" sz="19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125" y="-30914"/>
            <a:ext cx="7095066" cy="688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6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90" y="2328452"/>
            <a:ext cx="10096753" cy="4529548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56146" y="10170"/>
            <a:ext cx="11685719" cy="519866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</a:rPr>
              <a:t>Event Loops, Timers and Serial Ports</a:t>
            </a:r>
            <a:endParaRPr lang="en-GB" sz="3000" dirty="0">
              <a:solidFill>
                <a:srgbClr val="FF0000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6147" y="452230"/>
            <a:ext cx="12055111" cy="190044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sz="1800" dirty="0" smtClean="0"/>
              <a:t>The </a:t>
            </a:r>
            <a:r>
              <a:rPr lang="en-GB" sz="1800" dirty="0"/>
              <a:t>program enters an </a:t>
            </a:r>
            <a:r>
              <a:rPr lang="en-GB" sz="1800" b="1" dirty="0"/>
              <a:t>event loop</a:t>
            </a:r>
            <a:r>
              <a:rPr lang="en-GB" sz="1800" dirty="0"/>
              <a:t> that continuously waits for events and dispatches them to the appropriate handlers</a:t>
            </a:r>
            <a:r>
              <a:rPr lang="en-GB" sz="1800" dirty="0" smtClean="0"/>
              <a:t> </a:t>
            </a:r>
          </a:p>
          <a:p>
            <a:pPr algn="just">
              <a:lnSpc>
                <a:spcPct val="150000"/>
              </a:lnSpc>
            </a:pPr>
            <a:r>
              <a:rPr lang="en-GB" sz="1800" dirty="0" smtClean="0"/>
              <a:t>No </a:t>
            </a:r>
            <a:r>
              <a:rPr lang="en-GB" sz="1800" dirty="0"/>
              <a:t>need to explicitly write a </a:t>
            </a:r>
            <a:r>
              <a:rPr lang="en-GB" sz="1800" dirty="0" smtClean="0"/>
              <a:t>loop </a:t>
            </a:r>
            <a:r>
              <a:rPr lang="en-GB" sz="1800" dirty="0"/>
              <a:t>as the GUI </a:t>
            </a:r>
            <a:r>
              <a:rPr lang="en-GB" sz="1800" dirty="0" smtClean="0"/>
              <a:t>automatically manages </a:t>
            </a:r>
            <a:r>
              <a:rPr lang="en-GB" sz="1800" dirty="0"/>
              <a:t>it internally. </a:t>
            </a:r>
            <a:endParaRPr lang="en-GB" sz="1800" dirty="0" smtClean="0"/>
          </a:p>
          <a:p>
            <a:pPr algn="just">
              <a:lnSpc>
                <a:spcPct val="150000"/>
              </a:lnSpc>
            </a:pPr>
            <a:r>
              <a:rPr lang="en-GB" sz="1800" dirty="0" smtClean="0"/>
              <a:t>Asynchronous events are triggered using </a:t>
            </a:r>
            <a:r>
              <a:rPr lang="en-GB" sz="1800" dirty="0"/>
              <a:t>callback functions </a:t>
            </a:r>
            <a:r>
              <a:rPr lang="en-GB" sz="1800" dirty="0" smtClean="0"/>
              <a:t>that interact </a:t>
            </a:r>
            <a:r>
              <a:rPr lang="en-GB" sz="1800" dirty="0"/>
              <a:t>with hardware (e.g., timers, serial ports</a:t>
            </a:r>
            <a:r>
              <a:rPr lang="en-GB" sz="1800" dirty="0" smtClean="0"/>
              <a:t>) </a:t>
            </a:r>
            <a:r>
              <a:rPr lang="en-GB" sz="1800" dirty="0"/>
              <a:t>upon receiving data </a:t>
            </a:r>
          </a:p>
        </p:txBody>
      </p:sp>
    </p:spTree>
    <p:extLst>
      <p:ext uri="{BB962C8B-B14F-4D97-AF65-F5344CB8AC3E}">
        <p14:creationId xmlns:p14="http://schemas.microsoft.com/office/powerpoint/2010/main" val="200395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9787" y="54501"/>
            <a:ext cx="10515600" cy="544061"/>
          </a:xfrm>
        </p:spPr>
        <p:txBody>
          <a:bodyPr>
            <a:noAutofit/>
          </a:bodyPr>
          <a:lstStyle/>
          <a:p>
            <a:pPr algn="ctr"/>
            <a:r>
              <a:rPr lang="en-GB" sz="3400" b="1" dirty="0">
                <a:solidFill>
                  <a:srgbClr val="FF0000"/>
                </a:solidFill>
                <a:latin typeface="+mn-lt"/>
              </a:rPr>
              <a:t>Error Handling and Debugging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0" y="454170"/>
            <a:ext cx="5157787" cy="41071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0" y="920874"/>
            <a:ext cx="7848095" cy="5937126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sz="1700" dirty="0" smtClean="0"/>
              <a:t>Are </a:t>
            </a:r>
            <a:r>
              <a:rPr lang="en-GB" sz="1700" dirty="0"/>
              <a:t>critical skills in programming that enable developers to write </a:t>
            </a:r>
            <a:r>
              <a:rPr lang="en-GB" sz="1700" b="1" dirty="0">
                <a:solidFill>
                  <a:srgbClr val="FF0000"/>
                </a:solidFill>
              </a:rPr>
              <a:t>robust</a:t>
            </a:r>
            <a:r>
              <a:rPr lang="en-GB" sz="1700" dirty="0"/>
              <a:t>, </a:t>
            </a:r>
            <a:r>
              <a:rPr lang="en-GB" sz="1700" b="1" dirty="0">
                <a:solidFill>
                  <a:srgbClr val="FF0000"/>
                </a:solidFill>
              </a:rPr>
              <a:t>maintainable</a:t>
            </a:r>
            <a:r>
              <a:rPr lang="en-GB" sz="1700" dirty="0"/>
              <a:t>, and </a:t>
            </a:r>
            <a:r>
              <a:rPr lang="en-GB" sz="1700" b="1" dirty="0">
                <a:solidFill>
                  <a:srgbClr val="FF0000"/>
                </a:solidFill>
              </a:rPr>
              <a:t>fault-tolerant</a:t>
            </a:r>
            <a:r>
              <a:rPr lang="en-GB" sz="1700" dirty="0"/>
              <a:t> code</a:t>
            </a:r>
            <a:r>
              <a:rPr lang="en-GB" sz="1700" dirty="0" smtClean="0"/>
              <a:t>.</a:t>
            </a:r>
          </a:p>
          <a:p>
            <a:pPr>
              <a:lnSpc>
                <a:spcPct val="160000"/>
              </a:lnSpc>
            </a:pPr>
            <a:r>
              <a:rPr lang="en-GB" sz="1700" b="1" dirty="0" smtClean="0"/>
              <a:t>Error handling: </a:t>
            </a:r>
            <a:r>
              <a:rPr lang="en-GB" sz="1700" dirty="0"/>
              <a:t>ensures that the program gracefully manages unexpected </a:t>
            </a:r>
            <a:r>
              <a:rPr lang="en-GB" sz="1700" dirty="0" smtClean="0"/>
              <a:t>conditions</a:t>
            </a:r>
          </a:p>
          <a:p>
            <a:pPr>
              <a:lnSpc>
                <a:spcPct val="160000"/>
              </a:lnSpc>
            </a:pPr>
            <a:r>
              <a:rPr lang="en-GB" sz="1700" b="1" dirty="0" smtClean="0"/>
              <a:t>Debugging:</a:t>
            </a:r>
            <a:r>
              <a:rPr lang="en-GB" sz="1700" dirty="0" smtClean="0"/>
              <a:t> </a:t>
            </a:r>
            <a:r>
              <a:rPr lang="en-GB" sz="1700" dirty="0"/>
              <a:t>allows for identifying and resolving coding issues</a:t>
            </a:r>
            <a:r>
              <a:rPr lang="en-GB" sz="1700" dirty="0" smtClean="0"/>
              <a:t>.</a:t>
            </a:r>
          </a:p>
          <a:p>
            <a:pPr marL="0" indent="0">
              <a:buNone/>
            </a:pPr>
            <a:r>
              <a:rPr lang="en-GB" sz="1800" b="1" dirty="0">
                <a:solidFill>
                  <a:srgbClr val="FF0000"/>
                </a:solidFill>
              </a:rPr>
              <a:t>Best Practices for Error Handling and </a:t>
            </a:r>
            <a:r>
              <a:rPr lang="en-GB" sz="1800" b="1" dirty="0" smtClean="0">
                <a:solidFill>
                  <a:srgbClr val="FF0000"/>
                </a:solidFill>
              </a:rPr>
              <a:t>Debugging:</a:t>
            </a:r>
            <a:endParaRPr lang="en-GB" sz="18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700" b="1" dirty="0"/>
              <a:t>Write Modular Code:</a:t>
            </a:r>
            <a:r>
              <a:rPr lang="en-GB" sz="1700" dirty="0"/>
              <a:t> Split your code into small functions and test each individually.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700" b="1" dirty="0"/>
              <a:t>Use Meaningful Error Messages:</a:t>
            </a:r>
            <a:r>
              <a:rPr lang="en-GB" sz="1700" dirty="0"/>
              <a:t> Provide informative error and warning messages to facilitate debugging.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700" b="1" dirty="0"/>
              <a:t>Log Errors:</a:t>
            </a:r>
            <a:r>
              <a:rPr lang="en-GB" sz="1700" dirty="0"/>
              <a:t> Keep a log of errors that occur during execution for troubleshooting</a:t>
            </a:r>
            <a:r>
              <a:rPr lang="en-GB" sz="1700" dirty="0" smtClean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700" b="1" dirty="0" smtClean="0"/>
              <a:t>Use try-catch Appropriately:</a:t>
            </a:r>
            <a:r>
              <a:rPr lang="en-US" sz="1700" dirty="0" smtClean="0"/>
              <a:t> Avoid overuse; handle only specific, expected errors.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b="1" dirty="0"/>
              <a:t>Automate Tests:</a:t>
            </a:r>
            <a:r>
              <a:rPr lang="en-GB" sz="1800" dirty="0"/>
              <a:t> Develop unit tests </a:t>
            </a:r>
            <a:r>
              <a:rPr lang="en-GB" sz="1800" dirty="0" smtClean="0"/>
              <a:t>using MATLAB’s </a:t>
            </a:r>
            <a:r>
              <a:rPr lang="en-GB" sz="1800" b="1" dirty="0" err="1" smtClean="0"/>
              <a:t>unittest</a:t>
            </a:r>
            <a:r>
              <a:rPr lang="en-GB" sz="1800" dirty="0" smtClean="0"/>
              <a:t> framework to automatically check code correctness.</a:t>
            </a:r>
            <a:endParaRPr lang="en-GB" sz="1700" b="1" dirty="0"/>
          </a:p>
          <a:p>
            <a:pPr>
              <a:lnSpc>
                <a:spcPct val="160000"/>
              </a:lnSpc>
            </a:pPr>
            <a:endParaRPr lang="en-GB" sz="170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"/>
          </p:nvPr>
        </p:nvSpPr>
        <p:spPr>
          <a:xfrm>
            <a:off x="7008812" y="485996"/>
            <a:ext cx="5183188" cy="418783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 smtClean="0"/>
              <a:t>Types and Applications</a:t>
            </a:r>
            <a:endParaRPr lang="en-GB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7848095" y="920874"/>
            <a:ext cx="4343904" cy="5937126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GB" sz="1700" b="1" dirty="0"/>
              <a:t>Types of Errors:</a:t>
            </a:r>
            <a:r>
              <a:rPr lang="en-GB" sz="1700" dirty="0"/>
              <a:t> </a:t>
            </a:r>
          </a:p>
          <a:p>
            <a:pPr>
              <a:lnSpc>
                <a:spcPct val="160000"/>
              </a:lnSpc>
            </a:pPr>
            <a:r>
              <a:rPr lang="en-GB" sz="1700" b="1" dirty="0"/>
              <a:t>Syntax Errors</a:t>
            </a:r>
            <a:r>
              <a:rPr lang="en-GB" sz="1700" dirty="0"/>
              <a:t>: Code cannot be interpreted due to incorrect use of the language. </a:t>
            </a:r>
            <a:r>
              <a:rPr lang="en-GB" sz="1700" dirty="0">
                <a:solidFill>
                  <a:srgbClr val="FF0000"/>
                </a:solidFill>
              </a:rPr>
              <a:t>Caused by missing parentheses, unrecognized variables, or improper command usage.</a:t>
            </a:r>
          </a:p>
          <a:p>
            <a:pPr>
              <a:lnSpc>
                <a:spcPct val="150000"/>
              </a:lnSpc>
            </a:pPr>
            <a:r>
              <a:rPr lang="en-GB" sz="1800" b="1" dirty="0"/>
              <a:t>Runtime Errors:</a:t>
            </a:r>
            <a:r>
              <a:rPr lang="en-GB" sz="1800" dirty="0"/>
              <a:t> Occur when an operation is invalid during execution. </a:t>
            </a:r>
            <a:r>
              <a:rPr lang="en-GB" sz="1800" dirty="0">
                <a:solidFill>
                  <a:srgbClr val="FF0000"/>
                </a:solidFill>
              </a:rPr>
              <a:t>Such as division by zero or referencing a non-existent element in an array.</a:t>
            </a:r>
          </a:p>
          <a:p>
            <a:pPr>
              <a:lnSpc>
                <a:spcPct val="150000"/>
              </a:lnSpc>
            </a:pPr>
            <a:r>
              <a:rPr lang="en-GB" sz="1800" b="1" dirty="0"/>
              <a:t>Logical Errors:</a:t>
            </a:r>
            <a:r>
              <a:rPr lang="en-GB" sz="1800" dirty="0"/>
              <a:t> Don’t cause the program to fail or throw an error but lead to incorrect results. </a:t>
            </a:r>
            <a:r>
              <a:rPr lang="en-GB" sz="1800" dirty="0" smtClean="0">
                <a:solidFill>
                  <a:srgbClr val="FF0000"/>
                </a:solidFill>
              </a:rPr>
              <a:t>Often the hardest </a:t>
            </a:r>
            <a:r>
              <a:rPr lang="en-GB" sz="1800" dirty="0">
                <a:solidFill>
                  <a:srgbClr val="FF0000"/>
                </a:solidFill>
              </a:rPr>
              <a:t>to detect.</a:t>
            </a:r>
          </a:p>
          <a:p>
            <a:pPr marL="0" indent="0">
              <a:lnSpc>
                <a:spcPct val="114000"/>
              </a:lnSpc>
              <a:buNone/>
            </a:pPr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52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9787" y="54501"/>
            <a:ext cx="10515600" cy="544061"/>
          </a:xfrm>
        </p:spPr>
        <p:txBody>
          <a:bodyPr>
            <a:noAutofit/>
          </a:bodyPr>
          <a:lstStyle/>
          <a:p>
            <a:pPr algn="ctr"/>
            <a:r>
              <a:rPr lang="en-GB" sz="3400" b="1" dirty="0">
                <a:solidFill>
                  <a:srgbClr val="FF0000"/>
                </a:solidFill>
                <a:latin typeface="+mn-lt"/>
              </a:rPr>
              <a:t>Error Handling and Debugging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1"/>
          </p:nvPr>
        </p:nvSpPr>
        <p:spPr>
          <a:xfrm>
            <a:off x="0" y="454170"/>
            <a:ext cx="5157787" cy="410715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 smtClean="0"/>
              <a:t>Introduction</a:t>
            </a: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0" y="920874"/>
            <a:ext cx="7315199" cy="5937126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sz="1800" dirty="0" smtClean="0"/>
              <a:t>Are </a:t>
            </a:r>
            <a:r>
              <a:rPr lang="en-GB" sz="1800" dirty="0"/>
              <a:t>critical skills in programming that enable developers to write </a:t>
            </a:r>
            <a:r>
              <a:rPr lang="en-GB" sz="1800" b="1" dirty="0">
                <a:solidFill>
                  <a:srgbClr val="FF0000"/>
                </a:solidFill>
              </a:rPr>
              <a:t>robust</a:t>
            </a:r>
            <a:r>
              <a:rPr lang="en-GB" sz="1800" dirty="0"/>
              <a:t>, </a:t>
            </a:r>
            <a:r>
              <a:rPr lang="en-GB" sz="1800" b="1" dirty="0">
                <a:solidFill>
                  <a:srgbClr val="FF0000"/>
                </a:solidFill>
              </a:rPr>
              <a:t>maintainable</a:t>
            </a:r>
            <a:r>
              <a:rPr lang="en-GB" sz="1800" dirty="0"/>
              <a:t>, and </a:t>
            </a:r>
            <a:r>
              <a:rPr lang="en-GB" sz="1800" b="1" dirty="0">
                <a:solidFill>
                  <a:srgbClr val="FF0000"/>
                </a:solidFill>
              </a:rPr>
              <a:t>fault-tolerant</a:t>
            </a:r>
            <a:r>
              <a:rPr lang="en-GB" sz="1800" dirty="0"/>
              <a:t> code</a:t>
            </a:r>
            <a:r>
              <a:rPr lang="en-GB" sz="1800" dirty="0" smtClean="0"/>
              <a:t>.</a:t>
            </a:r>
          </a:p>
          <a:p>
            <a:pPr>
              <a:lnSpc>
                <a:spcPct val="160000"/>
              </a:lnSpc>
            </a:pPr>
            <a:r>
              <a:rPr lang="en-GB" sz="1800" b="1" dirty="0" smtClean="0"/>
              <a:t>Error handling: </a:t>
            </a:r>
            <a:r>
              <a:rPr lang="en-GB" sz="1800" dirty="0"/>
              <a:t>ensures that the program gracefully manages unexpected </a:t>
            </a:r>
            <a:r>
              <a:rPr lang="en-GB" sz="1800" dirty="0" smtClean="0"/>
              <a:t>conditions</a:t>
            </a:r>
          </a:p>
          <a:p>
            <a:pPr>
              <a:lnSpc>
                <a:spcPct val="160000"/>
              </a:lnSpc>
            </a:pPr>
            <a:r>
              <a:rPr lang="en-GB" sz="1800" b="1" dirty="0" smtClean="0"/>
              <a:t>Debugging:</a:t>
            </a:r>
            <a:r>
              <a:rPr lang="en-GB" sz="1800" dirty="0" smtClean="0"/>
              <a:t> </a:t>
            </a:r>
            <a:r>
              <a:rPr lang="en-GB" sz="1800" dirty="0"/>
              <a:t>allows for identifying and resolving coding issues</a:t>
            </a:r>
            <a:r>
              <a:rPr lang="en-GB" sz="1800" dirty="0" smtClean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700" b="1" u="sng" dirty="0">
                <a:solidFill>
                  <a:srgbClr val="FF0000"/>
                </a:solidFill>
              </a:rPr>
              <a:t>Types of Errors:</a:t>
            </a:r>
            <a:r>
              <a:rPr lang="en-GB" sz="1700" u="sng" dirty="0">
                <a:solidFill>
                  <a:srgbClr val="FF0000"/>
                </a:solidFill>
              </a:rPr>
              <a:t> 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GB" sz="1700" b="1" dirty="0"/>
              <a:t>Syntax Errors</a:t>
            </a:r>
            <a:r>
              <a:rPr lang="en-GB" sz="1700" dirty="0"/>
              <a:t>: Code cannot be interpreted due to incorrect use of the language. </a:t>
            </a:r>
            <a:r>
              <a:rPr lang="en-GB" sz="1700" dirty="0">
                <a:solidFill>
                  <a:srgbClr val="FF0000"/>
                </a:solidFill>
              </a:rPr>
              <a:t>(</a:t>
            </a:r>
            <a:r>
              <a:rPr lang="en-GB" sz="1700" dirty="0" smtClean="0">
                <a:solidFill>
                  <a:srgbClr val="FF0000"/>
                </a:solidFill>
              </a:rPr>
              <a:t>missing </a:t>
            </a:r>
            <a:r>
              <a:rPr lang="en-GB" sz="1700" dirty="0">
                <a:solidFill>
                  <a:srgbClr val="FF0000"/>
                </a:solidFill>
              </a:rPr>
              <a:t>parentheses, unrecognized variables, or improper command </a:t>
            </a:r>
            <a:r>
              <a:rPr lang="en-GB" sz="1700" dirty="0" smtClean="0">
                <a:solidFill>
                  <a:srgbClr val="FF0000"/>
                </a:solidFill>
              </a:rPr>
              <a:t>usage)</a:t>
            </a:r>
            <a:endParaRPr lang="en-GB" sz="17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700" b="1" dirty="0"/>
              <a:t>Runtime Errors:</a:t>
            </a:r>
            <a:r>
              <a:rPr lang="en-GB" sz="1700" dirty="0"/>
              <a:t> Occur when an operation is invalid during execution. </a:t>
            </a:r>
            <a:r>
              <a:rPr lang="en-GB" sz="1700" dirty="0">
                <a:solidFill>
                  <a:srgbClr val="FF0000"/>
                </a:solidFill>
              </a:rPr>
              <a:t>(</a:t>
            </a:r>
            <a:r>
              <a:rPr lang="en-GB" sz="1700" dirty="0" smtClean="0">
                <a:solidFill>
                  <a:srgbClr val="FF0000"/>
                </a:solidFill>
              </a:rPr>
              <a:t>division </a:t>
            </a:r>
            <a:r>
              <a:rPr lang="en-GB" sz="1700" dirty="0">
                <a:solidFill>
                  <a:srgbClr val="FF0000"/>
                </a:solidFill>
              </a:rPr>
              <a:t>by zero or referencing a non-existent element in an </a:t>
            </a:r>
            <a:r>
              <a:rPr lang="en-GB" sz="1700" dirty="0" smtClean="0">
                <a:solidFill>
                  <a:srgbClr val="FF0000"/>
                </a:solidFill>
              </a:rPr>
              <a:t>array)</a:t>
            </a:r>
            <a:endParaRPr lang="en-GB" sz="17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700" b="1" dirty="0"/>
              <a:t>Logical Errors:</a:t>
            </a:r>
            <a:r>
              <a:rPr lang="en-GB" sz="1700" dirty="0"/>
              <a:t> Don’t cause the program to fail or throw an error but lead to incorrect results. </a:t>
            </a:r>
            <a:r>
              <a:rPr lang="en-GB" sz="1700" dirty="0" smtClean="0"/>
              <a:t>(</a:t>
            </a:r>
            <a:r>
              <a:rPr lang="en-GB" sz="1700" dirty="0" smtClean="0">
                <a:solidFill>
                  <a:srgbClr val="FF0000"/>
                </a:solidFill>
              </a:rPr>
              <a:t>Often </a:t>
            </a:r>
            <a:r>
              <a:rPr lang="en-GB" sz="1700" dirty="0">
                <a:solidFill>
                  <a:srgbClr val="FF0000"/>
                </a:solidFill>
              </a:rPr>
              <a:t>the hardest to </a:t>
            </a:r>
            <a:r>
              <a:rPr lang="en-GB" sz="1700" dirty="0" smtClean="0">
                <a:solidFill>
                  <a:srgbClr val="FF0000"/>
                </a:solidFill>
              </a:rPr>
              <a:t>detect)</a:t>
            </a:r>
            <a:endParaRPr lang="en-GB" sz="1700" dirty="0">
              <a:solidFill>
                <a:srgbClr val="FF0000"/>
              </a:solidFill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3"/>
          </p:nvPr>
        </p:nvSpPr>
        <p:spPr>
          <a:xfrm>
            <a:off x="7008812" y="485996"/>
            <a:ext cx="5183188" cy="418783"/>
          </a:xfrm>
        </p:spPr>
        <p:txBody>
          <a:bodyPr>
            <a:normAutofit lnSpcReduction="10000"/>
          </a:bodyPr>
          <a:lstStyle/>
          <a:p>
            <a:pPr algn="ctr"/>
            <a:r>
              <a:rPr lang="en-GB" dirty="0"/>
              <a:t>Best </a:t>
            </a:r>
            <a:r>
              <a:rPr lang="en-GB" dirty="0" smtClean="0"/>
              <a:t>Practices</a:t>
            </a:r>
            <a:endParaRPr lang="en-GB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7315200" y="920874"/>
            <a:ext cx="4876798" cy="5937126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900" b="1" dirty="0" smtClean="0"/>
              <a:t>Write </a:t>
            </a:r>
            <a:r>
              <a:rPr lang="en-GB" sz="1900" b="1" dirty="0"/>
              <a:t>Modular Code:</a:t>
            </a:r>
            <a:r>
              <a:rPr lang="en-GB" sz="1900" dirty="0"/>
              <a:t> Split your code into small functions and test each individually.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900" b="1" dirty="0"/>
              <a:t>Use Meaningful Error Messages:</a:t>
            </a:r>
            <a:r>
              <a:rPr lang="en-GB" sz="1900" dirty="0"/>
              <a:t> Provide informative error and warning messages to facilitate debugging.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900" b="1" dirty="0"/>
              <a:t>Log Errors:</a:t>
            </a:r>
            <a:r>
              <a:rPr lang="en-GB" sz="1900" dirty="0"/>
              <a:t> Keep a log of errors that occur during execution for troubleshooting.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900" b="1" dirty="0"/>
              <a:t>Use try-catch Appropriately:</a:t>
            </a:r>
            <a:r>
              <a:rPr lang="en-US" sz="1900" dirty="0"/>
              <a:t> Avoid overuse; handle only specific, expected errors.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900" b="1" dirty="0"/>
              <a:t>Automate Tests:</a:t>
            </a:r>
            <a:r>
              <a:rPr lang="en-GB" sz="1900" dirty="0"/>
              <a:t> Develop unit tests using MATLAB’s </a:t>
            </a:r>
            <a:r>
              <a:rPr lang="en-GB" sz="1900" b="1" dirty="0" err="1"/>
              <a:t>unittest</a:t>
            </a:r>
            <a:r>
              <a:rPr lang="en-GB" sz="1900" dirty="0"/>
              <a:t> framework to automatically check code correctness.</a:t>
            </a:r>
            <a:endParaRPr lang="en-GB" sz="1900" b="1" dirty="0"/>
          </a:p>
          <a:p>
            <a:pPr marL="0" indent="0">
              <a:lnSpc>
                <a:spcPct val="114000"/>
              </a:lnSpc>
              <a:buNone/>
            </a:pPr>
            <a:endParaRPr lang="en-GB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72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58446</TotalTime>
  <Words>3096</Words>
  <Application>Microsoft Office PowerPoint</Application>
  <PresentationFormat>Widescreen</PresentationFormat>
  <Paragraphs>265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Courier New</vt:lpstr>
      <vt:lpstr>Wingdings</vt:lpstr>
      <vt:lpstr>Office Theme</vt:lpstr>
      <vt:lpstr>Programming Structures in MATLAB</vt:lpstr>
      <vt:lpstr>Control Structures</vt:lpstr>
      <vt:lpstr>Decision Statements</vt:lpstr>
      <vt:lpstr>Nested Decision Statements</vt:lpstr>
      <vt:lpstr>For Loops</vt:lpstr>
      <vt:lpstr>While Loops</vt:lpstr>
      <vt:lpstr>Introduction to Programming paradigms</vt:lpstr>
      <vt:lpstr>Types of Programming</vt:lpstr>
      <vt:lpstr>Types of Programming</vt:lpstr>
      <vt:lpstr>Types of Functions</vt:lpstr>
      <vt:lpstr>Types of Functions</vt:lpstr>
      <vt:lpstr>Recursive Programming</vt:lpstr>
      <vt:lpstr>PowerPoint Presentation</vt:lpstr>
      <vt:lpstr>Types of Recursive Functions</vt:lpstr>
      <vt:lpstr>Types of Recursive Functions</vt:lpstr>
      <vt:lpstr>Dynamic Programming</vt:lpstr>
      <vt:lpstr>PowerPoint Presentation</vt:lpstr>
      <vt:lpstr>PowerPoint Presentation</vt:lpstr>
      <vt:lpstr>PowerPoint Presentation</vt:lpstr>
      <vt:lpstr>Approaches Syntax</vt:lpstr>
      <vt:lpstr>Object-Oriented Programming (OOP)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Event-Driven Programming</vt:lpstr>
      <vt:lpstr>GUI, Events and Callbacks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Error Handling and Debugging</vt:lpstr>
      <vt:lpstr>Error Handling and Debugging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MATLAB</dc:title>
  <dc:creator>DELL</dc:creator>
  <cp:lastModifiedBy>DELL</cp:lastModifiedBy>
  <cp:revision>163</cp:revision>
  <dcterms:created xsi:type="dcterms:W3CDTF">2024-08-22T02:06:03Z</dcterms:created>
  <dcterms:modified xsi:type="dcterms:W3CDTF">2024-10-08T15:14:02Z</dcterms:modified>
</cp:coreProperties>
</file>